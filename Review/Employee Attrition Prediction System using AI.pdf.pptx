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70" r:id="rId6"/>
    <p:sldId id="260" r:id="rId7"/>
    <p:sldId id="261" r:id="rId8"/>
    <p:sldId id="259" r:id="rId9"/>
    <p:sldId id="271" r:id="rId10"/>
    <p:sldId id="263" r:id="rId11"/>
    <p:sldId id="267" r:id="rId12"/>
    <p:sldId id="268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23"/>
  </p:normalViewPr>
  <p:slideViewPr>
    <p:cSldViewPr>
      <p:cViewPr>
        <p:scale>
          <a:sx n="63" d="100"/>
          <a:sy n="63" d="100"/>
        </p:scale>
        <p:origin x="144" y="8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4:45:21.4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1T04:45:35.8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05BAE-7848-9B40-8B80-7E8DF2DF93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4A6D8-E5C2-1A42-91BB-8D096D7A5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6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4A6D8-E5C2-1A42-91BB-8D096D7A52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1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0095" y="0"/>
            <a:ext cx="13049247" cy="10286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02" y="30784"/>
            <a:ext cx="2457449" cy="20764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02021" y="0"/>
            <a:ext cx="2485977" cy="147637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3964" y="2192292"/>
            <a:ext cx="133349" cy="13334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3964" y="2735217"/>
            <a:ext cx="133349" cy="1333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23964" y="3821067"/>
            <a:ext cx="133350" cy="13335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23964" y="4906917"/>
            <a:ext cx="133350" cy="13335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23964" y="5449842"/>
            <a:ext cx="133350" cy="13335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23964" y="6535692"/>
            <a:ext cx="133349" cy="13334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23964" y="7621542"/>
            <a:ext cx="133349" cy="13334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23964" y="8707392"/>
            <a:ext cx="133349" cy="13334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99990" y="2192292"/>
            <a:ext cx="133349" cy="13334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99990" y="2735217"/>
            <a:ext cx="133349" cy="13334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99989" y="4363992"/>
            <a:ext cx="133350" cy="13335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99989" y="4906917"/>
            <a:ext cx="133350" cy="13335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99989" y="5449842"/>
            <a:ext cx="133350" cy="13335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899990" y="7078617"/>
            <a:ext cx="133349" cy="133349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899990" y="8164467"/>
            <a:ext cx="133349" cy="133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980" y="47945"/>
            <a:ext cx="4449445" cy="734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6235" y="2256344"/>
            <a:ext cx="16397605" cy="3658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customXml" Target="../ink/ink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278"/>
            <a:ext cx="2457449" cy="2076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92400" y="0"/>
            <a:ext cx="2781299" cy="16637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44064" y="79158"/>
            <a:ext cx="11384280" cy="186461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34035" marR="5080" indent="-521970">
              <a:lnSpc>
                <a:spcPts val="4950"/>
              </a:lnSpc>
              <a:spcBef>
                <a:spcPts val="340"/>
              </a:spcBef>
              <a:tabLst>
                <a:tab pos="1285240" algn="l"/>
                <a:tab pos="1873250" algn="l"/>
                <a:tab pos="3768725" algn="l"/>
                <a:tab pos="6275705" algn="l"/>
                <a:tab pos="6558915" algn="l"/>
                <a:tab pos="7452995" algn="l"/>
                <a:tab pos="9315450" algn="l"/>
              </a:tabLst>
            </a:pPr>
            <a:r>
              <a:rPr sz="4200" spc="5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G.H.</a:t>
            </a:r>
            <a:r>
              <a:rPr sz="420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00" spc="45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RAISONI</a:t>
            </a:r>
            <a:r>
              <a:rPr sz="420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00" spc="-1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420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00" spc="3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20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00" spc="-1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sz="4200" spc="85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20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00" spc="5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sz="420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00" spc="-1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WAGHOLI,</a:t>
            </a:r>
            <a:r>
              <a:rPr sz="4200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200" spc="125" dirty="0">
                <a:solidFill>
                  <a:srgbClr val="6F2F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endParaRPr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29155">
              <a:lnSpc>
                <a:spcPts val="4150"/>
              </a:lnSpc>
            </a:pPr>
            <a:r>
              <a:rPr sz="3600" spc="-35" dirty="0">
                <a:solidFill>
                  <a:srgbClr val="C459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DepartmentofCSE</a:t>
            </a:r>
            <a:r>
              <a:rPr sz="3600" spc="-85" dirty="0">
                <a:solidFill>
                  <a:srgbClr val="C459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solidFill>
                  <a:srgbClr val="C459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3600" spc="-80" dirty="0">
                <a:solidFill>
                  <a:srgbClr val="C459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solidFill>
                  <a:srgbClr val="C459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AI&amp;AIML)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4064" y="3150903"/>
            <a:ext cx="12520295" cy="757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850" b="1" spc="-90" dirty="0">
                <a:solidFill>
                  <a:srgbClr val="6F2FA0"/>
                </a:solidFill>
                <a:latin typeface="Times New Roman"/>
                <a:cs typeface="Times New Roman"/>
              </a:rPr>
              <a:t>Employee</a:t>
            </a:r>
            <a:r>
              <a:rPr sz="4850" b="1" spc="-19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4850" b="1" spc="-70" dirty="0">
                <a:solidFill>
                  <a:srgbClr val="6F2FA0"/>
                </a:solidFill>
                <a:latin typeface="Times New Roman"/>
                <a:cs typeface="Times New Roman"/>
              </a:rPr>
              <a:t>Attrition</a:t>
            </a:r>
            <a:r>
              <a:rPr sz="4850" b="1" spc="-19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4850" b="1" spc="-65" dirty="0">
                <a:solidFill>
                  <a:srgbClr val="6F2FA0"/>
                </a:solidFill>
                <a:latin typeface="Times New Roman"/>
                <a:cs typeface="Times New Roman"/>
              </a:rPr>
              <a:t>Prediction</a:t>
            </a:r>
            <a:r>
              <a:rPr sz="4850" b="1" spc="-19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4850" b="1" dirty="0">
                <a:solidFill>
                  <a:srgbClr val="6F2FA0"/>
                </a:solidFill>
                <a:latin typeface="Times New Roman"/>
                <a:cs typeface="Times New Roman"/>
              </a:rPr>
              <a:t>System</a:t>
            </a:r>
            <a:r>
              <a:rPr sz="4850" b="1" spc="-19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4850" b="1" spc="-105" dirty="0">
                <a:solidFill>
                  <a:srgbClr val="6F2FA0"/>
                </a:solidFill>
                <a:latin typeface="Times New Roman"/>
                <a:cs typeface="Times New Roman"/>
              </a:rPr>
              <a:t>using</a:t>
            </a:r>
            <a:r>
              <a:rPr lang="en-US" sz="4850" b="1" spc="-19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lang="en-US" sz="4850" b="1" spc="-25" dirty="0">
                <a:solidFill>
                  <a:srgbClr val="6F2FA0"/>
                </a:solidFill>
                <a:latin typeface="Times New Roman"/>
                <a:cs typeface="Times New Roman"/>
              </a:rPr>
              <a:t>ML</a:t>
            </a:r>
            <a:endParaRPr sz="48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4958" y="6222898"/>
            <a:ext cx="5069205" cy="20749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700" b="1" u="sng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Name</a:t>
            </a:r>
            <a:r>
              <a:rPr sz="2700" b="1" u="sng" spc="-5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sng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700" b="1" u="sng" spc="-5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sng" spc="-10" dirty="0" err="1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Pro</a:t>
            </a:r>
            <a:r>
              <a:rPr sz="2700" b="1" u="sng" spc="-10" dirty="0" err="1">
                <a:solidFill>
                  <a:srgbClr val="BF0000"/>
                </a:solidFill>
                <a:latin typeface="Times New Roman"/>
                <a:cs typeface="Times New Roman"/>
              </a:rPr>
              <a:t>j</a:t>
            </a:r>
            <a:r>
              <a:rPr sz="2700" b="1" u="sng" spc="-10" dirty="0" err="1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ectees</a:t>
            </a:r>
            <a:r>
              <a:rPr lang="en-US" sz="2700" b="1" u="sng" spc="-10" dirty="0">
                <a:solidFill>
                  <a:srgbClr val="BF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:</a:t>
            </a:r>
            <a:endParaRPr sz="2700" u="sng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endParaRPr lang="en-US" sz="2700" u="sng" dirty="0">
              <a:latin typeface="Times New Roman"/>
              <a:cs typeface="Times New Roman"/>
            </a:endParaRPr>
          </a:p>
          <a:p>
            <a:pPr algn="ctr">
              <a:lnSpc>
                <a:spcPts val="3195"/>
              </a:lnSpc>
              <a:tabLst>
                <a:tab pos="474980" algn="l"/>
                <a:tab pos="3818890" algn="l"/>
              </a:tabLst>
            </a:pPr>
            <a:r>
              <a:rPr lang="en-US" sz="27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lang="en-US" sz="27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Vaibhav</a:t>
            </a:r>
            <a:r>
              <a:rPr lang="en-US" sz="2700" b="1" u="sng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7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Chole</a:t>
            </a:r>
            <a:r>
              <a:rPr lang="en-US" sz="2700" b="1" u="sng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7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C-</a:t>
            </a:r>
            <a:r>
              <a:rPr lang="en-US" sz="27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41</a:t>
            </a:r>
            <a:r>
              <a:rPr lang="en-US" sz="27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700" u="sng" dirty="0">
              <a:latin typeface="Times New Roman"/>
              <a:cs typeface="Times New Roman"/>
            </a:endParaRPr>
          </a:p>
          <a:p>
            <a:pPr algn="ctr">
              <a:lnSpc>
                <a:spcPts val="3115"/>
              </a:lnSpc>
              <a:tabLst>
                <a:tab pos="690880" algn="l"/>
                <a:tab pos="4495800" algn="l"/>
              </a:tabLst>
            </a:pPr>
            <a:r>
              <a:rPr sz="2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7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Vaishnavi</a:t>
            </a:r>
            <a:r>
              <a:rPr sz="2700" b="1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Jadh</a:t>
            </a:r>
            <a:r>
              <a:rPr sz="2700" b="1" u="sng" spc="-40" dirty="0">
                <a:latin typeface="Times New Roman"/>
                <a:cs typeface="Times New Roman"/>
              </a:rPr>
              <a:t>av</a:t>
            </a:r>
            <a:r>
              <a:rPr sz="2700" b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C-</a:t>
            </a:r>
            <a:r>
              <a:rPr sz="27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43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700" u="sng" dirty="0">
              <a:latin typeface="Times New Roman"/>
              <a:cs typeface="Times New Roman"/>
            </a:endParaRPr>
          </a:p>
          <a:p>
            <a:pPr algn="ctr">
              <a:lnSpc>
                <a:spcPts val="3160"/>
              </a:lnSpc>
              <a:tabLst>
                <a:tab pos="850265" algn="l"/>
                <a:tab pos="5043170" algn="l"/>
              </a:tabLst>
            </a:pPr>
            <a:r>
              <a:rPr sz="27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7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Vaishnavi</a:t>
            </a:r>
            <a:r>
              <a:rPr sz="270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Kahakar </a:t>
            </a:r>
            <a:r>
              <a:rPr sz="27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C-</a:t>
            </a:r>
            <a:r>
              <a:rPr sz="27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44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700" u="sng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E76F79-7097-B644-441A-8F6084913A42}"/>
              </a:ext>
            </a:extLst>
          </p:cNvPr>
          <p:cNvSpPr txBox="1"/>
          <p:nvPr/>
        </p:nvSpPr>
        <p:spPr>
          <a:xfrm>
            <a:off x="4571999" y="4511404"/>
            <a:ext cx="9144000" cy="126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 b="1" dirty="0">
                <a:solidFill>
                  <a:srgbClr val="B0000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pPr algn="ctr">
              <a:lnSpc>
                <a:spcPct val="150000"/>
              </a:lnSpc>
            </a:pPr>
            <a:r>
              <a:rPr lang="en-US" sz="27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sz="27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Pravin </a:t>
            </a:r>
            <a:r>
              <a:rPr lang="en-US" sz="27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Thakare</a:t>
            </a:r>
            <a:endParaRPr lang="en-US" sz="27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256" y="0"/>
            <a:ext cx="2457449" cy="19976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944896" y="0"/>
            <a:ext cx="2343102" cy="13874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97186" y="1667542"/>
            <a:ext cx="7453214" cy="6389570"/>
          </a:xfrm>
          <a:prstGeom prst="rect">
            <a:avLst/>
          </a:prstGeom>
        </p:spPr>
        <p:txBody>
          <a:bodyPr vert="horz" wrap="square" lIns="0" tIns="292735" rIns="0" bIns="0" rtlCol="0">
            <a:spAutoFit/>
          </a:bodyPr>
          <a:lstStyle/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/>
                <a:cs typeface="Times New Roman"/>
              </a:rPr>
              <a:t>Justifications for	 Selecting	 the title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/>
                <a:cs typeface="Times New Roman"/>
              </a:rPr>
              <a:t>Problem Statement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/>
                <a:cs typeface="Times New Roman"/>
              </a:rPr>
              <a:t>Objective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/>
                <a:cs typeface="Times New Roman"/>
              </a:rPr>
              <a:t>Scope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of Work</a:t>
            </a:r>
          </a:p>
          <a:p>
            <a:pPr marL="457200" indent="-571500">
              <a:buFont typeface="Arial" panose="020B0604020202020204" pitchFamily="34" charset="0"/>
              <a:buChar char="•"/>
            </a:pPr>
            <a:r>
              <a:rPr lang="en-US" sz="3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013518" y="155954"/>
            <a:ext cx="444944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791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Contents</a:t>
            </a:r>
          </a:p>
        </p:txBody>
      </p:sp>
      <p:grpSp>
        <p:nvGrpSpPr>
          <p:cNvPr id="11" name="object 2">
            <a:extLst>
              <a:ext uri="{FF2B5EF4-FFF2-40B4-BE49-F238E27FC236}">
                <a16:creationId xmlns:a16="http://schemas.microsoft.com/office/drawing/2014/main" id="{5D49E62C-78FB-7197-F1BD-F1A74838F7D8}"/>
              </a:ext>
            </a:extLst>
          </p:cNvPr>
          <p:cNvGrpSpPr/>
          <p:nvPr/>
        </p:nvGrpSpPr>
        <p:grpSpPr>
          <a:xfrm>
            <a:off x="2648631" y="10386"/>
            <a:ext cx="13296265" cy="974090"/>
            <a:chOff x="2269978" y="0"/>
            <a:chExt cx="13296265" cy="974090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F46B638B-9340-76CF-B7C6-2F3CC7A26FB3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8DCB21A2-B682-B209-5AD0-EE91931CA57F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CF0DAA5-4E05-75F2-9E80-6474EB06E8E1}"/>
              </a:ext>
            </a:extLst>
          </p:cNvPr>
          <p:cNvSpPr txBox="1"/>
          <p:nvPr/>
        </p:nvSpPr>
        <p:spPr>
          <a:xfrm>
            <a:off x="2694557" y="61809"/>
            <a:ext cx="13296265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50" b="1" spc="-120" dirty="0">
                <a:solidFill>
                  <a:srgbClr val="FEFE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46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990724" cy="1685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242" y="9296400"/>
            <a:ext cx="17906999" cy="990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4647" y="0"/>
            <a:ext cx="2523352" cy="13104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30387" y="1312217"/>
            <a:ext cx="15654655" cy="717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refers to employees leaving an organization over time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occur due to resignation, retirement, or job dissatisfaction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employee attrition increases recruitment and training costs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skilled and experienced employees affects productivity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impacts organizational growth and stability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Attrition occurs due to multiple factors like job satisfaction, salary, workload, and work-life balance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face difficulty in identifying employees who may leave early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HR methods are reactive and inefficient</a:t>
            </a:r>
          </a:p>
          <a:p>
            <a:pPr marL="12700" marR="1752600" algn="just">
              <a:lnSpc>
                <a:spcPct val="112900"/>
              </a:lnSpc>
              <a:spcBef>
                <a:spcPts val="100"/>
              </a:spcBef>
            </a:pP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2">
            <a:extLst>
              <a:ext uri="{FF2B5EF4-FFF2-40B4-BE49-F238E27FC236}">
                <a16:creationId xmlns:a16="http://schemas.microsoft.com/office/drawing/2014/main" id="{39393534-7C73-D6AE-6978-7F91BE205F49}"/>
              </a:ext>
            </a:extLst>
          </p:cNvPr>
          <p:cNvGrpSpPr/>
          <p:nvPr/>
        </p:nvGrpSpPr>
        <p:grpSpPr>
          <a:xfrm>
            <a:off x="1990725" y="10386"/>
            <a:ext cx="13773922" cy="974090"/>
            <a:chOff x="2269978" y="0"/>
            <a:chExt cx="13296265" cy="974090"/>
          </a:xfrm>
        </p:grpSpPr>
        <p:sp>
          <p:nvSpPr>
            <p:cNvPr id="16" name="object 3">
              <a:extLst>
                <a:ext uri="{FF2B5EF4-FFF2-40B4-BE49-F238E27FC236}">
                  <a16:creationId xmlns:a16="http://schemas.microsoft.com/office/drawing/2014/main" id="{696B527F-A61E-C652-13A0-D8D2378DC61B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F97CB6C6-81D0-1E5F-788F-FC775030263E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F8C90297-A85F-2008-BDDF-B02449FE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spc="135" dirty="0">
                <a:latin typeface="Times New Roman"/>
                <a:cs typeface="Times New Roman"/>
              </a:rPr>
              <a:t>Introduction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13BF-6511-59F9-7F43-4ECC85CA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1E682-775E-D54E-CB24-957B83DE9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6235" y="2256344"/>
            <a:ext cx="16397605" cy="573952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is a major challenge faced by organizations across industries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attrition leads to increased recruitment and training costs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skilled employees affects productivity and organizational growth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depends on multiple factors and is difficult to predict manually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analyze large HR datasets efficiently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prediction can help organizations take early preventive actions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topic is relevant to real-world HR analytics applications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aligns with current trends in artificial intelligence and machine learning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A414194-EA15-1CC4-4C84-EDED752A69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256" y="0"/>
            <a:ext cx="2457449" cy="1997611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02143DA3-BDD2-25CF-7E6C-D82E653F13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44896" y="0"/>
            <a:ext cx="2343102" cy="1387487"/>
          </a:xfrm>
          <a:prstGeom prst="rect">
            <a:avLst/>
          </a:prstGeom>
        </p:spPr>
      </p:pic>
      <p:grpSp>
        <p:nvGrpSpPr>
          <p:cNvPr id="13" name="object 2">
            <a:extLst>
              <a:ext uri="{FF2B5EF4-FFF2-40B4-BE49-F238E27FC236}">
                <a16:creationId xmlns:a16="http://schemas.microsoft.com/office/drawing/2014/main" id="{5F50BE0F-49CA-B539-4385-950D00E51144}"/>
              </a:ext>
            </a:extLst>
          </p:cNvPr>
          <p:cNvGrpSpPr/>
          <p:nvPr/>
        </p:nvGrpSpPr>
        <p:grpSpPr>
          <a:xfrm>
            <a:off x="2602705" y="10386"/>
            <a:ext cx="13161942" cy="974090"/>
            <a:chOff x="2269978" y="0"/>
            <a:chExt cx="13296265" cy="974090"/>
          </a:xfrm>
        </p:grpSpPr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E50EFC1E-7565-278D-22ED-C85539AF54C9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>
                  <a:solidFill>
                    <a:schemeClr val="bg1"/>
                  </a:solidFill>
                  <a:latin typeface="Times New Roman"/>
                  <a:cs typeface="Times New Roman"/>
                </a:rPr>
                <a:t>Justifications </a:t>
              </a:r>
              <a:r>
                <a:rPr lang="en-US" sz="4650" spc="90" dirty="0">
                  <a:solidFill>
                    <a:schemeClr val="bg1"/>
                  </a:solidFill>
                  <a:latin typeface="Times New Roman"/>
                  <a:cs typeface="Times New Roman"/>
                </a:rPr>
                <a:t>for </a:t>
              </a:r>
              <a:r>
                <a:rPr lang="en-US" sz="4650" spc="-10" dirty="0">
                  <a:solidFill>
                    <a:schemeClr val="bg1"/>
                  </a:solidFill>
                  <a:latin typeface="Times New Roman"/>
                  <a:cs typeface="Times New Roman"/>
                </a:rPr>
                <a:t>Selecting </a:t>
              </a:r>
              <a:r>
                <a:rPr lang="en-US" sz="4650" spc="85" dirty="0">
                  <a:solidFill>
                    <a:schemeClr val="bg1"/>
                  </a:solidFill>
                  <a:latin typeface="Times New Roman"/>
                  <a:cs typeface="Times New Roman"/>
                </a:rPr>
                <a:t>the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3D3C0E23-F7AD-6712-9D0F-BBFD42639130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8460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C8178-D0DA-EB8A-7C6F-5D12F9C3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0FCA6-6D74-E48D-2A2B-7B80FDB96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6235" y="2256344"/>
            <a:ext cx="16397605" cy="6729535"/>
          </a:xfrm>
        </p:spPr>
        <p:txBody>
          <a:bodyPr/>
          <a:lstStyle/>
          <a:p>
            <a:pPr marL="374650" indent="-374650">
              <a:lnSpc>
                <a:spcPct val="100000"/>
              </a:lnSpc>
              <a:spcBef>
                <a:spcPts val="125"/>
              </a:spcBef>
              <a:buSzPct val="80645"/>
              <a:buAutoNum type="arabicPeriod"/>
              <a:tabLst>
                <a:tab pos="374650" algn="l"/>
              </a:tabLst>
            </a:pPr>
            <a:r>
              <a:rPr lang="en-US" sz="2400" spc="-65" dirty="0">
                <a:latin typeface="Verdana"/>
                <a:cs typeface="Verdana"/>
              </a:rPr>
              <a:t>Employee</a:t>
            </a:r>
            <a:r>
              <a:rPr lang="en-US" sz="2400" spc="-285" dirty="0">
                <a:latin typeface="Verdana"/>
                <a:cs typeface="Verdana"/>
              </a:rPr>
              <a:t> </a:t>
            </a:r>
            <a:r>
              <a:rPr lang="en-US" sz="2400" spc="-30" dirty="0">
                <a:latin typeface="Verdana"/>
                <a:cs typeface="Verdana"/>
              </a:rPr>
              <a:t>attrition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60" dirty="0">
                <a:latin typeface="Verdana"/>
                <a:cs typeface="Verdana"/>
              </a:rPr>
              <a:t>is</a:t>
            </a:r>
            <a:r>
              <a:rPr lang="en-US" sz="2400" spc="-285" dirty="0">
                <a:latin typeface="Verdana"/>
                <a:cs typeface="Verdana"/>
              </a:rPr>
              <a:t> </a:t>
            </a:r>
            <a:r>
              <a:rPr lang="en-US" sz="2400" spc="-155" dirty="0">
                <a:latin typeface="Verdana"/>
                <a:cs typeface="Verdana"/>
              </a:rPr>
              <a:t>a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65" dirty="0">
                <a:latin typeface="Verdana"/>
                <a:cs typeface="Verdana"/>
              </a:rPr>
              <a:t>serious</a:t>
            </a:r>
            <a:r>
              <a:rPr lang="en-US" sz="2400" spc="-285" dirty="0">
                <a:latin typeface="Verdana"/>
                <a:cs typeface="Verdana"/>
              </a:rPr>
              <a:t> </a:t>
            </a:r>
            <a:r>
              <a:rPr lang="en-US" sz="2400" spc="-60" dirty="0">
                <a:latin typeface="Verdana"/>
                <a:cs typeface="Verdana"/>
              </a:rPr>
              <a:t>challenge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dirty="0">
                <a:latin typeface="Verdana"/>
                <a:cs typeface="Verdana"/>
              </a:rPr>
              <a:t>for</a:t>
            </a:r>
            <a:r>
              <a:rPr lang="en-US" sz="2400" spc="-285" dirty="0">
                <a:latin typeface="Verdana"/>
                <a:cs typeface="Verdana"/>
              </a:rPr>
              <a:t> </a:t>
            </a:r>
            <a:r>
              <a:rPr lang="en-US" sz="2400" spc="-60" dirty="0">
                <a:latin typeface="Verdana"/>
                <a:cs typeface="Verdana"/>
              </a:rPr>
              <a:t>modern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80" dirty="0">
                <a:latin typeface="Verdana"/>
                <a:cs typeface="Verdana"/>
              </a:rPr>
              <a:t>organizations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2915" dirty="0">
                <a:latin typeface="Webdings"/>
                <a:cs typeface="Webdings"/>
              </a:rPr>
              <a:t>🏢</a:t>
            </a:r>
            <a:endParaRPr lang="en-US" sz="2400" dirty="0">
              <a:latin typeface="Webdings"/>
              <a:cs typeface="Webdings"/>
            </a:endParaRPr>
          </a:p>
          <a:p>
            <a:pPr marL="381000" indent="-374650">
              <a:lnSpc>
                <a:spcPct val="100000"/>
              </a:lnSpc>
              <a:spcBef>
                <a:spcPts val="110"/>
              </a:spcBef>
              <a:buSzPct val="80645"/>
              <a:buAutoNum type="arabicPeriod"/>
              <a:tabLst>
                <a:tab pos="381000" algn="l"/>
              </a:tabLst>
            </a:pPr>
            <a:r>
              <a:rPr lang="en-US" sz="2400" spc="-65" dirty="0">
                <a:latin typeface="Verdana"/>
                <a:cs typeface="Verdana"/>
              </a:rPr>
              <a:t>Employees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dirty="0">
                <a:latin typeface="Verdana"/>
                <a:cs typeface="Verdana"/>
              </a:rPr>
              <a:t>often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75" dirty="0">
                <a:latin typeface="Verdana"/>
                <a:cs typeface="Verdana"/>
              </a:rPr>
              <a:t>leave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75" dirty="0">
                <a:latin typeface="Verdana"/>
                <a:cs typeface="Verdana"/>
              </a:rPr>
              <a:t>jobs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50" dirty="0">
                <a:latin typeface="Verdana"/>
                <a:cs typeface="Verdana"/>
              </a:rPr>
              <a:t>unexpectedly</a:t>
            </a:r>
            <a:r>
              <a:rPr lang="en-US" sz="2400" spc="-295" dirty="0">
                <a:latin typeface="Verdana"/>
                <a:cs typeface="Verdana"/>
              </a:rPr>
              <a:t> </a:t>
            </a:r>
            <a:r>
              <a:rPr lang="en-US" sz="2800" spc="-380" dirty="0">
                <a:latin typeface="SimSun-ExtB"/>
                <a:cs typeface="SimSun-ExtB"/>
              </a:rPr>
              <a:t>❌</a:t>
            </a:r>
            <a:r>
              <a:rPr lang="en-US" sz="2800" spc="-935" dirty="0">
                <a:latin typeface="SimSun-ExtB"/>
                <a:cs typeface="SimSun-ExtB"/>
              </a:rPr>
              <a:t> </a:t>
            </a:r>
            <a:r>
              <a:rPr lang="en-US" sz="2400" spc="-40" dirty="0">
                <a:latin typeface="Verdana"/>
                <a:cs typeface="Verdana"/>
              </a:rPr>
              <a:t>without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20" dirty="0">
                <a:latin typeface="Verdana"/>
                <a:cs typeface="Verdana"/>
              </a:rPr>
              <a:t>prior</a:t>
            </a:r>
            <a:r>
              <a:rPr lang="en-US" sz="2400" spc="-295" dirty="0">
                <a:latin typeface="Verdana"/>
                <a:cs typeface="Verdana"/>
              </a:rPr>
              <a:t> </a:t>
            </a:r>
            <a:r>
              <a:rPr lang="en-US" sz="2400" spc="-10" dirty="0">
                <a:latin typeface="Verdana"/>
                <a:cs typeface="Verdana"/>
              </a:rPr>
              <a:t>notice</a:t>
            </a:r>
            <a:endParaRPr lang="en-US" sz="2400" dirty="0">
              <a:latin typeface="Verdana"/>
              <a:cs typeface="Verdana"/>
            </a:endParaRPr>
          </a:p>
          <a:p>
            <a:pPr marL="393065" indent="-374650">
              <a:lnSpc>
                <a:spcPct val="100000"/>
              </a:lnSpc>
              <a:spcBef>
                <a:spcPts val="409"/>
              </a:spcBef>
              <a:buSzPct val="80645"/>
              <a:buAutoNum type="arabicPeriod"/>
              <a:tabLst>
                <a:tab pos="393065" algn="l"/>
              </a:tabLst>
            </a:pPr>
            <a:r>
              <a:rPr lang="en-US" sz="2400" spc="-90" dirty="0">
                <a:latin typeface="Verdana"/>
                <a:cs typeface="Verdana"/>
              </a:rPr>
              <a:t>Reasons</a:t>
            </a:r>
            <a:r>
              <a:rPr lang="en-US" sz="2400" spc="-270" dirty="0">
                <a:latin typeface="Verdana"/>
                <a:cs typeface="Verdana"/>
              </a:rPr>
              <a:t> </a:t>
            </a:r>
            <a:r>
              <a:rPr lang="en-US" sz="2400" spc="-10" dirty="0">
                <a:latin typeface="Verdana"/>
                <a:cs typeface="Verdana"/>
              </a:rPr>
              <a:t>include:</a:t>
            </a:r>
            <a:endParaRPr lang="en-US" sz="2400" dirty="0">
              <a:latin typeface="Verdana"/>
              <a:cs typeface="Verdana"/>
            </a:endParaRPr>
          </a:p>
          <a:p>
            <a:pPr marL="776605" indent="-342900">
              <a:lnSpc>
                <a:spcPct val="100000"/>
              </a:lnSpc>
              <a:spcBef>
                <a:spcPts val="355"/>
              </a:spcBef>
              <a:buFont typeface="Arial" panose="020B0604020202020204" pitchFamily="34" charset="0"/>
              <a:buChar char="•"/>
            </a:pPr>
            <a:r>
              <a:rPr lang="en-US" sz="2400" spc="110" dirty="0">
                <a:latin typeface="Verdana"/>
                <a:cs typeface="Verdana"/>
              </a:rPr>
              <a:t>Job</a:t>
            </a:r>
            <a:r>
              <a:rPr lang="en-US" sz="2400" spc="-270" dirty="0">
                <a:latin typeface="Verdana"/>
                <a:cs typeface="Verdana"/>
              </a:rPr>
              <a:t> </a:t>
            </a:r>
            <a:r>
              <a:rPr lang="en-US" sz="2400" spc="-35" dirty="0">
                <a:latin typeface="Verdana"/>
                <a:cs typeface="Verdana"/>
              </a:rPr>
              <a:t>dissatisfaction</a:t>
            </a:r>
            <a:r>
              <a:rPr lang="en-US" sz="2400" spc="-265" dirty="0">
                <a:latin typeface="Verdana"/>
                <a:cs typeface="Verdana"/>
              </a:rPr>
              <a:t> </a:t>
            </a:r>
            <a:r>
              <a:rPr lang="en-US" sz="2800" spc="2675" dirty="0">
                <a:latin typeface="Webdings"/>
                <a:cs typeface="Webdings"/>
              </a:rPr>
              <a:t>😞</a:t>
            </a:r>
            <a:endParaRPr lang="en-US" sz="2800" dirty="0">
              <a:latin typeface="Webdings"/>
              <a:cs typeface="Webdings"/>
            </a:endParaRPr>
          </a:p>
          <a:p>
            <a:pPr marL="776605" indent="-34290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lang="en-US" sz="2400" spc="-135" dirty="0">
                <a:latin typeface="Verdana"/>
                <a:cs typeface="Verdana"/>
              </a:rPr>
              <a:t>Work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65" dirty="0">
                <a:latin typeface="Verdana"/>
                <a:cs typeface="Verdana"/>
              </a:rPr>
              <a:t>pressure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65" dirty="0">
                <a:latin typeface="Verdana"/>
                <a:cs typeface="Verdana"/>
              </a:rPr>
              <a:t>and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65" dirty="0">
                <a:latin typeface="Verdana"/>
                <a:cs typeface="Verdana"/>
              </a:rPr>
              <a:t>stress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800" spc="-1500" dirty="0">
                <a:latin typeface="Segoe UI Emoji"/>
                <a:cs typeface="Segoe UI Emoji"/>
              </a:rPr>
              <a:t>⚠</a:t>
            </a:r>
            <a:endParaRPr lang="en-US" sz="2800" dirty="0">
              <a:latin typeface="Segoe UI Emoji"/>
              <a:cs typeface="Segoe UI Emoji"/>
            </a:endParaRPr>
          </a:p>
          <a:p>
            <a:pPr marL="776605" indent="-34290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2400" spc="-95" dirty="0">
                <a:latin typeface="Verdana"/>
                <a:cs typeface="Verdana"/>
              </a:rPr>
              <a:t>Lack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55" dirty="0">
                <a:latin typeface="Verdana"/>
                <a:cs typeface="Verdana"/>
              </a:rPr>
              <a:t>of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60" dirty="0">
                <a:latin typeface="Verdana"/>
                <a:cs typeface="Verdana"/>
              </a:rPr>
              <a:t>career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80" dirty="0">
                <a:latin typeface="Verdana"/>
                <a:cs typeface="Verdana"/>
              </a:rPr>
              <a:t>growth</a:t>
            </a:r>
            <a:r>
              <a:rPr lang="en-US" sz="2400" spc="-290" dirty="0">
                <a:latin typeface="Verdana"/>
                <a:cs typeface="Verdana"/>
              </a:rPr>
              <a:t> </a:t>
            </a:r>
            <a:r>
              <a:rPr lang="en-US" sz="2800" spc="2675" dirty="0">
                <a:latin typeface="Webdings"/>
                <a:cs typeface="Webdings"/>
              </a:rPr>
              <a:t>📉</a:t>
            </a:r>
            <a:endParaRPr lang="en-US" sz="2800" dirty="0">
              <a:latin typeface="Webdings"/>
              <a:cs typeface="Webdings"/>
            </a:endParaRPr>
          </a:p>
          <a:p>
            <a:pPr marL="396240" marR="9672320" indent="-374650">
              <a:lnSpc>
                <a:spcPct val="105500"/>
              </a:lnSpc>
              <a:spcBef>
                <a:spcPts val="430"/>
              </a:spcBef>
              <a:buSzPct val="80645"/>
              <a:buAutoNum type="arabicPeriod" startAt="4"/>
              <a:tabLst>
                <a:tab pos="433705" algn="l"/>
              </a:tabLst>
            </a:pPr>
            <a:r>
              <a:rPr lang="en-US" sz="2400" spc="-60" dirty="0">
                <a:latin typeface="Verdana"/>
                <a:cs typeface="Verdana"/>
              </a:rPr>
              <a:t>Sudden</a:t>
            </a:r>
            <a:r>
              <a:rPr lang="en-US" sz="2400" spc="-290" dirty="0">
                <a:latin typeface="Verdana"/>
                <a:cs typeface="Verdana"/>
              </a:rPr>
              <a:t> </a:t>
            </a:r>
            <a:r>
              <a:rPr lang="en-US" sz="2400" spc="-10" dirty="0">
                <a:latin typeface="Verdana"/>
                <a:cs typeface="Verdana"/>
              </a:rPr>
              <a:t>attrition</a:t>
            </a:r>
            <a:r>
              <a:rPr lang="en-US" sz="2400" spc="-290" dirty="0">
                <a:latin typeface="Verdana"/>
                <a:cs typeface="Verdana"/>
              </a:rPr>
              <a:t> </a:t>
            </a:r>
            <a:r>
              <a:rPr lang="en-US" sz="2400" spc="-100" dirty="0">
                <a:latin typeface="Verdana"/>
                <a:cs typeface="Verdana"/>
              </a:rPr>
              <a:t>causes: 	</a:t>
            </a:r>
          </a:p>
          <a:p>
            <a:pPr marL="821690" marR="9672320" lvl="1" indent="-342900">
              <a:lnSpc>
                <a:spcPct val="105500"/>
              </a:lnSpc>
              <a:spcBef>
                <a:spcPts val="430"/>
              </a:spcBef>
              <a:buSzPct val="80645"/>
              <a:buFont typeface="Arial" panose="020B0604020202020204" pitchFamily="34" charset="0"/>
              <a:buChar char="•"/>
              <a:tabLst>
                <a:tab pos="433705" algn="l"/>
              </a:tabLst>
            </a:pPr>
            <a:r>
              <a:rPr lang="en-US" sz="2100" spc="-50" dirty="0">
                <a:latin typeface="Verdana"/>
                <a:cs typeface="Verdana"/>
              </a:rPr>
              <a:t>Financial</a:t>
            </a:r>
            <a:r>
              <a:rPr lang="en-US" sz="2100" spc="-285" dirty="0">
                <a:latin typeface="Verdana"/>
                <a:cs typeface="Verdana"/>
              </a:rPr>
              <a:t> </a:t>
            </a:r>
            <a:r>
              <a:rPr lang="en-US" sz="2100" spc="-35" dirty="0">
                <a:latin typeface="Verdana"/>
                <a:cs typeface="Verdana"/>
              </a:rPr>
              <a:t>loss</a:t>
            </a:r>
            <a:r>
              <a:rPr lang="en-US" sz="2100" spc="-280" dirty="0">
                <a:latin typeface="Verdana"/>
                <a:cs typeface="Verdana"/>
              </a:rPr>
              <a:t> </a:t>
            </a:r>
            <a:r>
              <a:rPr lang="en-US" sz="2500" spc="2675" dirty="0">
                <a:latin typeface="Webdings"/>
                <a:cs typeface="Webdings"/>
              </a:rPr>
              <a:t>💰</a:t>
            </a:r>
            <a:endParaRPr lang="en-US" sz="2500" dirty="0">
              <a:latin typeface="Webdings"/>
              <a:cs typeface="Webdings"/>
            </a:endParaRPr>
          </a:p>
          <a:p>
            <a:pPr marL="821690" marR="9672320" lvl="1" indent="-342900">
              <a:lnSpc>
                <a:spcPct val="105500"/>
              </a:lnSpc>
              <a:spcBef>
                <a:spcPts val="430"/>
              </a:spcBef>
              <a:buSzPct val="80645"/>
              <a:buFont typeface="Arial" panose="020B0604020202020204" pitchFamily="34" charset="0"/>
              <a:buChar char="•"/>
              <a:tabLst>
                <a:tab pos="433705" algn="l"/>
              </a:tabLst>
            </a:pPr>
            <a:r>
              <a:rPr lang="en-US" sz="2100" spc="-90" dirty="0">
                <a:latin typeface="Verdana"/>
                <a:cs typeface="Verdana"/>
              </a:rPr>
              <a:t>Increased</a:t>
            </a:r>
            <a:r>
              <a:rPr lang="en-US" sz="2100" spc="-295" dirty="0">
                <a:latin typeface="Verdana"/>
                <a:cs typeface="Verdana"/>
              </a:rPr>
              <a:t> </a:t>
            </a:r>
            <a:r>
              <a:rPr lang="en-US" sz="2100" spc="-85" dirty="0">
                <a:latin typeface="Verdana"/>
                <a:cs typeface="Verdana"/>
              </a:rPr>
              <a:t>hiring</a:t>
            </a:r>
            <a:r>
              <a:rPr lang="en-US" sz="2100" spc="-295" dirty="0">
                <a:latin typeface="Verdana"/>
                <a:cs typeface="Verdana"/>
              </a:rPr>
              <a:t> </a:t>
            </a:r>
            <a:r>
              <a:rPr lang="en-US" sz="2100" spc="-65" dirty="0">
                <a:latin typeface="Verdana"/>
                <a:cs typeface="Verdana"/>
              </a:rPr>
              <a:t>and</a:t>
            </a:r>
            <a:r>
              <a:rPr lang="en-US" sz="2100" spc="-290" dirty="0">
                <a:latin typeface="Verdana"/>
                <a:cs typeface="Verdana"/>
              </a:rPr>
              <a:t> </a:t>
            </a:r>
            <a:r>
              <a:rPr lang="en-US" sz="2100" spc="-80" dirty="0">
                <a:latin typeface="Verdana"/>
                <a:cs typeface="Verdana"/>
              </a:rPr>
              <a:t>training</a:t>
            </a:r>
            <a:r>
              <a:rPr lang="en-US" sz="2100" spc="-295" dirty="0">
                <a:latin typeface="Verdana"/>
                <a:cs typeface="Verdana"/>
              </a:rPr>
              <a:t> </a:t>
            </a:r>
            <a:r>
              <a:rPr lang="en-US" sz="2100" spc="-10" dirty="0">
                <a:latin typeface="Verdana"/>
                <a:cs typeface="Verdana"/>
              </a:rPr>
              <a:t>costs</a:t>
            </a:r>
            <a:r>
              <a:rPr lang="en-US" sz="2100" spc="-285" dirty="0">
                <a:latin typeface="Verdana"/>
                <a:cs typeface="Verdana"/>
              </a:rPr>
              <a:t> </a:t>
            </a:r>
            <a:r>
              <a:rPr lang="en-US" sz="2500" spc="2675" dirty="0">
                <a:latin typeface="Webdings"/>
                <a:cs typeface="Webdings"/>
              </a:rPr>
              <a:t>📚</a:t>
            </a:r>
            <a:endParaRPr lang="en-US" sz="2500" dirty="0">
              <a:latin typeface="Webdings"/>
              <a:cs typeface="Webdings"/>
            </a:endParaRPr>
          </a:p>
          <a:p>
            <a:pPr marL="821690" marR="9672320" lvl="1" indent="-342900">
              <a:lnSpc>
                <a:spcPct val="105500"/>
              </a:lnSpc>
              <a:spcBef>
                <a:spcPts val="430"/>
              </a:spcBef>
              <a:buSzPct val="80645"/>
              <a:buFont typeface="Arial" panose="020B0604020202020204" pitchFamily="34" charset="0"/>
              <a:buChar char="•"/>
              <a:tabLst>
                <a:tab pos="433705" algn="l"/>
              </a:tabLst>
            </a:pPr>
            <a:r>
              <a:rPr lang="en-US" sz="2100" spc="-35" dirty="0">
                <a:latin typeface="Verdana"/>
                <a:cs typeface="Verdana"/>
              </a:rPr>
              <a:t>Reduced</a:t>
            </a:r>
            <a:r>
              <a:rPr lang="en-US" sz="2100" spc="-305" dirty="0">
                <a:latin typeface="Verdana"/>
                <a:cs typeface="Verdana"/>
              </a:rPr>
              <a:t> </a:t>
            </a:r>
            <a:r>
              <a:rPr lang="en-US" sz="2100" spc="-10" dirty="0">
                <a:latin typeface="Verdana"/>
                <a:cs typeface="Verdana"/>
              </a:rPr>
              <a:t>productivity</a:t>
            </a:r>
            <a:r>
              <a:rPr lang="en-US" sz="2100" spc="-300" dirty="0">
                <a:latin typeface="Verdana"/>
                <a:cs typeface="Verdana"/>
              </a:rPr>
              <a:t> </a:t>
            </a:r>
            <a:r>
              <a:rPr lang="en-US" sz="2500" spc="2675" dirty="0">
                <a:latin typeface="Webdings"/>
                <a:cs typeface="Webdings"/>
              </a:rPr>
              <a:t>📉</a:t>
            </a:r>
            <a:endParaRPr lang="en-US" sz="2500" dirty="0">
              <a:latin typeface="Webdings"/>
              <a:cs typeface="Webdings"/>
            </a:endParaRPr>
          </a:p>
          <a:p>
            <a:pPr marL="374015" indent="-367030">
              <a:lnSpc>
                <a:spcPct val="100000"/>
              </a:lnSpc>
              <a:spcBef>
                <a:spcPts val="285"/>
              </a:spcBef>
              <a:buSzPct val="80645"/>
              <a:buAutoNum type="arabicPeriod" startAt="5"/>
              <a:tabLst>
                <a:tab pos="374015" algn="l"/>
              </a:tabLst>
            </a:pPr>
            <a:r>
              <a:rPr lang="en-US" sz="2400" spc="-60" dirty="0">
                <a:latin typeface="Verdana"/>
                <a:cs typeface="Verdana"/>
              </a:rPr>
              <a:t>HR</a:t>
            </a:r>
            <a:r>
              <a:rPr lang="en-US" sz="2400" spc="-305" dirty="0">
                <a:latin typeface="Verdana"/>
                <a:cs typeface="Verdana"/>
              </a:rPr>
              <a:t> </a:t>
            </a:r>
            <a:r>
              <a:rPr lang="en-US" sz="2400" spc="-95" dirty="0">
                <a:latin typeface="Verdana"/>
                <a:cs typeface="Verdana"/>
              </a:rPr>
              <a:t>teams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25" dirty="0">
                <a:latin typeface="Verdana"/>
                <a:cs typeface="Verdana"/>
              </a:rPr>
              <a:t>cannot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70" dirty="0">
                <a:latin typeface="Verdana"/>
                <a:cs typeface="Verdana"/>
              </a:rPr>
              <a:t>easily</a:t>
            </a:r>
            <a:r>
              <a:rPr lang="en-US" sz="2400" spc="-305" dirty="0">
                <a:latin typeface="Verdana"/>
                <a:cs typeface="Verdana"/>
              </a:rPr>
              <a:t> </a:t>
            </a:r>
            <a:r>
              <a:rPr lang="en-US" sz="2400" spc="-20" dirty="0">
                <a:latin typeface="Verdana"/>
                <a:cs typeface="Verdana"/>
              </a:rPr>
              <a:t>identify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130" dirty="0">
                <a:latin typeface="Verdana"/>
                <a:cs typeface="Verdana"/>
              </a:rPr>
              <a:t>high-</a:t>
            </a:r>
            <a:r>
              <a:rPr lang="en-US" sz="2400" spc="-110" dirty="0">
                <a:latin typeface="Verdana"/>
                <a:cs typeface="Verdana"/>
              </a:rPr>
              <a:t>risk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60" dirty="0">
                <a:latin typeface="Verdana"/>
                <a:cs typeface="Verdana"/>
              </a:rPr>
              <a:t>employees</a:t>
            </a:r>
            <a:r>
              <a:rPr lang="en-US" sz="2400" spc="-305" dirty="0">
                <a:latin typeface="Verdana"/>
                <a:cs typeface="Verdana"/>
              </a:rPr>
              <a:t> </a:t>
            </a:r>
            <a:r>
              <a:rPr lang="en-US" sz="2400" spc="-50" dirty="0">
                <a:latin typeface="Verdana"/>
                <a:cs typeface="Verdana"/>
              </a:rPr>
              <a:t>in</a:t>
            </a:r>
            <a:r>
              <a:rPr lang="en-US" sz="2400" spc="-300" dirty="0">
                <a:latin typeface="Verdana"/>
                <a:cs typeface="Verdana"/>
              </a:rPr>
              <a:t> </a:t>
            </a:r>
            <a:r>
              <a:rPr lang="en-US" sz="2400" spc="-40" dirty="0">
                <a:latin typeface="Verdana"/>
                <a:cs typeface="Verdana"/>
              </a:rPr>
              <a:t>advance</a:t>
            </a:r>
            <a:r>
              <a:rPr lang="en-US" sz="2400" spc="-110" dirty="0">
                <a:latin typeface="Verdana"/>
                <a:cs typeface="Verdana"/>
              </a:rPr>
              <a:t> </a:t>
            </a:r>
            <a:r>
              <a:rPr lang="en-US" sz="4400" spc="-644" baseline="-4025" dirty="0">
                <a:latin typeface="SimSun-ExtB"/>
                <a:cs typeface="SimSun-ExtB"/>
              </a:rPr>
              <a:t>❓</a:t>
            </a:r>
            <a:endParaRPr lang="en-US" sz="4400" baseline="-4025" dirty="0">
              <a:latin typeface="SimSun-ExtB"/>
              <a:cs typeface="SimSun-ExtB"/>
            </a:endParaRPr>
          </a:p>
          <a:p>
            <a:pPr marL="394335" indent="-366395">
              <a:lnSpc>
                <a:spcPct val="100000"/>
              </a:lnSpc>
              <a:spcBef>
                <a:spcPts val="60"/>
              </a:spcBef>
              <a:buSzPct val="80645"/>
              <a:buAutoNum type="arabicPeriod" startAt="5"/>
              <a:tabLst>
                <a:tab pos="394335" algn="l"/>
              </a:tabLst>
            </a:pPr>
            <a:r>
              <a:rPr lang="en-US" sz="2400" spc="-80" dirty="0">
                <a:latin typeface="Verdana"/>
                <a:cs typeface="Verdana"/>
              </a:rPr>
              <a:t>There</a:t>
            </a:r>
            <a:r>
              <a:rPr lang="en-US" sz="2400" spc="-285" dirty="0">
                <a:latin typeface="Verdana"/>
                <a:cs typeface="Verdana"/>
              </a:rPr>
              <a:t> </a:t>
            </a:r>
            <a:r>
              <a:rPr lang="en-US" sz="2400" spc="-60" dirty="0">
                <a:latin typeface="Verdana"/>
                <a:cs typeface="Verdana"/>
              </a:rPr>
              <a:t>is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155" dirty="0">
                <a:latin typeface="Verdana"/>
                <a:cs typeface="Verdana"/>
              </a:rPr>
              <a:t>a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50" dirty="0">
                <a:latin typeface="Verdana"/>
                <a:cs typeface="Verdana"/>
              </a:rPr>
              <a:t>need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dirty="0">
                <a:latin typeface="Verdana"/>
                <a:cs typeface="Verdana"/>
              </a:rPr>
              <a:t>for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110" dirty="0">
                <a:latin typeface="Verdana"/>
                <a:cs typeface="Verdana"/>
              </a:rPr>
              <a:t>an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65" dirty="0">
                <a:latin typeface="Verdana"/>
                <a:cs typeface="Verdana"/>
              </a:rPr>
              <a:t>intelligent,</a:t>
            </a:r>
            <a:r>
              <a:rPr lang="en-US" sz="2400" spc="-285" dirty="0">
                <a:latin typeface="Verdana"/>
                <a:cs typeface="Verdana"/>
              </a:rPr>
              <a:t> </a:t>
            </a:r>
            <a:r>
              <a:rPr lang="en-US" sz="2400" spc="-100" dirty="0">
                <a:latin typeface="Verdana"/>
                <a:cs typeface="Verdana"/>
              </a:rPr>
              <a:t>data-</a:t>
            </a:r>
            <a:r>
              <a:rPr lang="en-US" sz="2400" spc="-45" dirty="0">
                <a:latin typeface="Verdana"/>
                <a:cs typeface="Verdana"/>
              </a:rPr>
              <a:t>driven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20" dirty="0">
                <a:latin typeface="Verdana"/>
                <a:cs typeface="Verdana"/>
              </a:rPr>
              <a:t>solution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800" spc="1639" dirty="0">
                <a:latin typeface="Courier New"/>
                <a:cs typeface="Courier New"/>
              </a:rPr>
              <a:t>🤖</a:t>
            </a:r>
            <a:endParaRPr lang="en-US" sz="2800" dirty="0">
              <a:latin typeface="Courier New"/>
              <a:cs typeface="Courier New"/>
            </a:endParaRPr>
          </a:p>
          <a:p>
            <a:pPr marL="335280" indent="-330200">
              <a:lnSpc>
                <a:spcPct val="100000"/>
              </a:lnSpc>
              <a:spcBef>
                <a:spcPts val="60"/>
              </a:spcBef>
              <a:buSzPct val="80645"/>
              <a:buAutoNum type="arabicPeriod" startAt="5"/>
              <a:tabLst>
                <a:tab pos="335280" algn="l"/>
              </a:tabLst>
            </a:pPr>
            <a:r>
              <a:rPr lang="en-US" sz="2400" spc="-75" dirty="0">
                <a:latin typeface="Verdana"/>
                <a:cs typeface="Verdana"/>
              </a:rPr>
              <a:t>This</a:t>
            </a:r>
            <a:r>
              <a:rPr lang="en-US" sz="2400" spc="-310" dirty="0">
                <a:latin typeface="Verdana"/>
                <a:cs typeface="Verdana"/>
              </a:rPr>
              <a:t> </a:t>
            </a:r>
            <a:r>
              <a:rPr lang="en-US" sz="2400" spc="-30" dirty="0">
                <a:latin typeface="Verdana"/>
                <a:cs typeface="Verdana"/>
              </a:rPr>
              <a:t>project</a:t>
            </a:r>
            <a:r>
              <a:rPr lang="en-US" sz="2400" spc="-310" dirty="0">
                <a:latin typeface="Verdana"/>
                <a:cs typeface="Verdana"/>
              </a:rPr>
              <a:t> </a:t>
            </a:r>
            <a:r>
              <a:rPr lang="en-US" sz="2400" spc="-85" dirty="0">
                <a:latin typeface="Verdana"/>
                <a:cs typeface="Verdana"/>
              </a:rPr>
              <a:t>uses</a:t>
            </a:r>
            <a:r>
              <a:rPr lang="en-US" sz="2400" spc="-310" dirty="0">
                <a:latin typeface="Verdana"/>
                <a:cs typeface="Verdana"/>
              </a:rPr>
              <a:t> </a:t>
            </a:r>
            <a:r>
              <a:rPr lang="en-US" sz="2400" spc="-20" dirty="0">
                <a:latin typeface="Verdana"/>
                <a:cs typeface="Verdana"/>
              </a:rPr>
              <a:t>Machine</a:t>
            </a:r>
            <a:r>
              <a:rPr lang="en-US" sz="2400" spc="-310" dirty="0">
                <a:latin typeface="Verdana"/>
                <a:cs typeface="Verdana"/>
              </a:rPr>
              <a:t> </a:t>
            </a:r>
            <a:r>
              <a:rPr lang="en-US" sz="2400" spc="-85" dirty="0">
                <a:latin typeface="Verdana"/>
                <a:cs typeface="Verdana"/>
              </a:rPr>
              <a:t>Learning</a:t>
            </a:r>
            <a:r>
              <a:rPr lang="en-US" sz="2400" spc="-305" dirty="0">
                <a:latin typeface="Verdana"/>
                <a:cs typeface="Verdana"/>
              </a:rPr>
              <a:t> </a:t>
            </a:r>
            <a:r>
              <a:rPr lang="en-US" sz="2800" spc="2725" dirty="0">
                <a:latin typeface="Webdings"/>
                <a:cs typeface="Webdings"/>
              </a:rPr>
              <a:t>📊</a:t>
            </a:r>
            <a:r>
              <a:rPr lang="en-US" sz="2800" spc="-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Verdana"/>
                <a:cs typeface="Verdana"/>
              </a:rPr>
              <a:t>to</a:t>
            </a:r>
            <a:r>
              <a:rPr lang="en-US" sz="2400" spc="-310" dirty="0">
                <a:latin typeface="Verdana"/>
                <a:cs typeface="Verdana"/>
              </a:rPr>
              <a:t> </a:t>
            </a:r>
            <a:r>
              <a:rPr lang="en-US" sz="2400" dirty="0">
                <a:latin typeface="Verdana"/>
                <a:cs typeface="Verdana"/>
              </a:rPr>
              <a:t>predict</a:t>
            </a:r>
            <a:r>
              <a:rPr lang="en-US" sz="2400" spc="-310" dirty="0">
                <a:latin typeface="Verdana"/>
                <a:cs typeface="Verdana"/>
              </a:rPr>
              <a:t> </a:t>
            </a:r>
            <a:r>
              <a:rPr lang="en-US" sz="2400" spc="-55" dirty="0">
                <a:latin typeface="Verdana"/>
                <a:cs typeface="Verdana"/>
              </a:rPr>
              <a:t>employee</a:t>
            </a:r>
            <a:r>
              <a:rPr lang="en-US" sz="2400" spc="-305" dirty="0">
                <a:latin typeface="Verdana"/>
                <a:cs typeface="Verdana"/>
              </a:rPr>
              <a:t> </a:t>
            </a:r>
            <a:r>
              <a:rPr lang="en-US" sz="2400" spc="-25" dirty="0">
                <a:latin typeface="Verdana"/>
                <a:cs typeface="Verdana"/>
              </a:rPr>
              <a:t>attrition</a:t>
            </a:r>
            <a:r>
              <a:rPr lang="en-US" sz="2400" spc="-310" dirty="0">
                <a:latin typeface="Verdana"/>
                <a:cs typeface="Verdana"/>
              </a:rPr>
              <a:t> </a:t>
            </a:r>
            <a:r>
              <a:rPr lang="en-US" sz="2400" spc="-10" dirty="0">
                <a:latin typeface="Verdana"/>
                <a:cs typeface="Verdana"/>
              </a:rPr>
              <a:t>early</a:t>
            </a:r>
            <a:r>
              <a:rPr lang="en-US" sz="2400" spc="50" dirty="0">
                <a:latin typeface="Verdana"/>
                <a:cs typeface="Verdana"/>
              </a:rPr>
              <a:t> </a:t>
            </a:r>
            <a:r>
              <a:rPr lang="en-US" sz="4400" spc="-4634" baseline="-6441" dirty="0">
                <a:latin typeface="SimSun-ExtB"/>
                <a:cs typeface="SimSun-ExtB"/>
              </a:rPr>
              <a:t>⏳</a:t>
            </a:r>
            <a:endParaRPr lang="en-US" sz="4400" baseline="-6441" dirty="0">
              <a:latin typeface="SimSun-ExtB"/>
              <a:cs typeface="SimSun-ExtB"/>
            </a:endParaRPr>
          </a:p>
          <a:p>
            <a:pPr marL="393700" indent="-340360">
              <a:lnSpc>
                <a:spcPct val="100000"/>
              </a:lnSpc>
              <a:spcBef>
                <a:spcPts val="285"/>
              </a:spcBef>
              <a:buSzPct val="80645"/>
              <a:buAutoNum type="arabicPeriod" startAt="5"/>
              <a:tabLst>
                <a:tab pos="393700" algn="l"/>
              </a:tabLst>
            </a:pPr>
            <a:r>
              <a:rPr lang="en-US" sz="2400" spc="-25" dirty="0">
                <a:latin typeface="Verdana"/>
                <a:cs typeface="Verdana"/>
              </a:rPr>
              <a:t>Helps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80" dirty="0">
                <a:latin typeface="Verdana"/>
                <a:cs typeface="Verdana"/>
              </a:rPr>
              <a:t>organizations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130" dirty="0">
                <a:latin typeface="Verdana"/>
                <a:cs typeface="Verdana"/>
              </a:rPr>
              <a:t>take</a:t>
            </a:r>
            <a:r>
              <a:rPr lang="en-US" sz="2400" spc="-275" dirty="0">
                <a:latin typeface="Verdana"/>
                <a:cs typeface="Verdana"/>
              </a:rPr>
              <a:t> </a:t>
            </a:r>
            <a:r>
              <a:rPr lang="en-US" sz="2400" spc="-55" dirty="0">
                <a:latin typeface="Verdana"/>
                <a:cs typeface="Verdana"/>
              </a:rPr>
              <a:t>preventive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35" dirty="0">
                <a:latin typeface="Verdana"/>
                <a:cs typeface="Verdana"/>
              </a:rPr>
              <a:t>actions</a:t>
            </a:r>
            <a:r>
              <a:rPr lang="en-US" sz="2400" spc="-275" dirty="0">
                <a:latin typeface="Verdana"/>
                <a:cs typeface="Verdana"/>
              </a:rPr>
              <a:t> </a:t>
            </a:r>
            <a:r>
              <a:rPr lang="en-US" sz="2400" spc="-65" dirty="0">
                <a:latin typeface="Verdana"/>
                <a:cs typeface="Verdana"/>
              </a:rPr>
              <a:t>and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60" dirty="0">
                <a:latin typeface="Verdana"/>
                <a:cs typeface="Verdana"/>
              </a:rPr>
              <a:t>improve</a:t>
            </a:r>
            <a:r>
              <a:rPr lang="en-US" sz="2400" spc="-280" dirty="0">
                <a:latin typeface="Verdana"/>
                <a:cs typeface="Verdana"/>
              </a:rPr>
              <a:t> </a:t>
            </a:r>
            <a:r>
              <a:rPr lang="en-US" sz="2400" spc="-40" dirty="0">
                <a:latin typeface="Verdana"/>
                <a:cs typeface="Verdana"/>
              </a:rPr>
              <a:t>retention</a:t>
            </a:r>
            <a:r>
              <a:rPr lang="en-US" sz="2400" spc="-390" dirty="0">
                <a:latin typeface="Verdana"/>
                <a:cs typeface="Verdana"/>
              </a:rPr>
              <a:t> </a:t>
            </a:r>
            <a:r>
              <a:rPr lang="en-US" sz="4400" spc="2460" baseline="-4830" dirty="0">
                <a:latin typeface="Courier New"/>
                <a:cs typeface="Courier New"/>
              </a:rPr>
              <a:t>🤝</a:t>
            </a:r>
            <a:endParaRPr lang="en-US" sz="4400" baseline="-4830" dirty="0">
              <a:latin typeface="Courier New"/>
              <a:cs typeface="Courier New"/>
            </a:endParaRPr>
          </a:p>
          <a:p>
            <a:endParaRPr lang="en-US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BA21223F-BD30-F355-607B-D2BD6456D5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256" y="0"/>
            <a:ext cx="2457449" cy="1997611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92C160A5-4952-429D-AF5A-BFB6F271B6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44896" y="0"/>
            <a:ext cx="2343102" cy="1387487"/>
          </a:xfrm>
          <a:prstGeom prst="rect">
            <a:avLst/>
          </a:prstGeom>
        </p:spPr>
      </p:pic>
      <p:grpSp>
        <p:nvGrpSpPr>
          <p:cNvPr id="10" name="object 2">
            <a:extLst>
              <a:ext uri="{FF2B5EF4-FFF2-40B4-BE49-F238E27FC236}">
                <a16:creationId xmlns:a16="http://schemas.microsoft.com/office/drawing/2014/main" id="{BD6A9C1C-0287-AB3B-D96C-C536D1ED26D9}"/>
              </a:ext>
            </a:extLst>
          </p:cNvPr>
          <p:cNvGrpSpPr/>
          <p:nvPr/>
        </p:nvGrpSpPr>
        <p:grpSpPr>
          <a:xfrm>
            <a:off x="2602704" y="10386"/>
            <a:ext cx="13342191" cy="974090"/>
            <a:chOff x="2269978" y="0"/>
            <a:chExt cx="13296265" cy="974090"/>
          </a:xfrm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B27B77A5-8CAB-3111-6187-FBFFE48F5764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57AF88B9-834E-6EA1-6628-70D9EB94BD75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AC3855A-8649-61C5-1ED2-2313CE41E177}"/>
              </a:ext>
            </a:extLst>
          </p:cNvPr>
          <p:cNvSpPr txBox="1"/>
          <p:nvPr/>
        </p:nvSpPr>
        <p:spPr>
          <a:xfrm>
            <a:off x="2610061" y="-13765"/>
            <a:ext cx="13342191" cy="104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ct val="151000"/>
              </a:lnSpc>
              <a:tabLst>
                <a:tab pos="2858770" algn="l"/>
                <a:tab pos="3718560" algn="l"/>
                <a:tab pos="5732780" algn="l"/>
              </a:tabLst>
            </a:pPr>
            <a:r>
              <a:rPr lang="en-US" sz="4650" spc="110" dirty="0">
                <a:solidFill>
                  <a:schemeClr val="bg1"/>
                </a:solidFill>
                <a:latin typeface="Times New Roman"/>
                <a:cs typeface="Times New Roman"/>
              </a:rPr>
              <a:t>Problem</a:t>
            </a:r>
            <a:r>
              <a:rPr lang="en-US" sz="4650" spc="1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650" spc="100" dirty="0">
                <a:solidFill>
                  <a:schemeClr val="bg1"/>
                </a:solidFill>
                <a:latin typeface="Times New Roman"/>
                <a:cs typeface="Times New Roman"/>
              </a:rPr>
              <a:t>Statement</a:t>
            </a:r>
            <a:endParaRPr lang="en-US" sz="465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53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77" y="0"/>
            <a:ext cx="2457449" cy="19970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97673" y="0"/>
            <a:ext cx="2390326" cy="141606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900991" y="47945"/>
            <a:ext cx="47688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245995" algn="l"/>
              </a:tabLst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pc="-45" dirty="0"/>
          </a:p>
        </p:txBody>
      </p:sp>
      <p:sp>
        <p:nvSpPr>
          <p:cNvPr id="13" name="object 13"/>
          <p:cNvSpPr txBox="1"/>
          <p:nvPr/>
        </p:nvSpPr>
        <p:spPr>
          <a:xfrm>
            <a:off x="697031" y="1714500"/>
            <a:ext cx="16371769" cy="65727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concept of employee attrition in organizations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causes and impact of employee attrition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HR employee data related to attrition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important factors influencing employee attrition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the use of machine learning techniques for attrition prediction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proposed system for employee attrition prediction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different machine learning approaches conceptually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decision making in HR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organizations reduce employee turnover through early prediction</a:t>
            </a:r>
          </a:p>
        </p:txBody>
      </p:sp>
      <p:grpSp>
        <p:nvGrpSpPr>
          <p:cNvPr id="11" name="object 2">
            <a:extLst>
              <a:ext uri="{FF2B5EF4-FFF2-40B4-BE49-F238E27FC236}">
                <a16:creationId xmlns:a16="http://schemas.microsoft.com/office/drawing/2014/main" id="{EE86170D-BA68-19D1-27C0-2F76FF75BA35}"/>
              </a:ext>
            </a:extLst>
          </p:cNvPr>
          <p:cNvGrpSpPr/>
          <p:nvPr/>
        </p:nvGrpSpPr>
        <p:grpSpPr>
          <a:xfrm>
            <a:off x="2602705" y="10386"/>
            <a:ext cx="13161942" cy="974090"/>
            <a:chOff x="2269978" y="0"/>
            <a:chExt cx="13296265" cy="974090"/>
          </a:xfrm>
        </p:grpSpPr>
        <p:sp>
          <p:nvSpPr>
            <p:cNvPr id="14" name="object 3">
              <a:extLst>
                <a:ext uri="{FF2B5EF4-FFF2-40B4-BE49-F238E27FC236}">
                  <a16:creationId xmlns:a16="http://schemas.microsoft.com/office/drawing/2014/main" id="{4D9FD1EB-BB98-4F5F-0808-B22E2E28981F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>
                  <a:solidFill>
                    <a:schemeClr val="bg1"/>
                  </a:solidFill>
                  <a:latin typeface="Times New Roman"/>
                  <a:cs typeface="Times New Roman"/>
                </a:rPr>
                <a:t>Objective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E1482D68-6D62-F5E1-495A-62B7526DB439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02" y="30784"/>
            <a:ext cx="2457449" cy="20764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02021" y="0"/>
            <a:ext cx="2485977" cy="14763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33384" y="47945"/>
            <a:ext cx="5020945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950085" algn="l"/>
              </a:tabLst>
            </a:pPr>
            <a:r>
              <a:rPr lang="en-US" spc="-105" dirty="0"/>
              <a:t>Scope</a:t>
            </a:r>
            <a:endParaRPr spc="-10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20654-7BAC-9182-5851-3F0BCEE92742}"/>
              </a:ext>
            </a:extLst>
          </p:cNvPr>
          <p:cNvSpPr txBox="1"/>
          <p:nvPr/>
        </p:nvSpPr>
        <p:spPr>
          <a:xfrm>
            <a:off x="609600" y="1943100"/>
            <a:ext cx="13411200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analyzing employee attrition using HR data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considers multiple factors such as job satisfaction, salary, experience, and workload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is limited to structured HR datasets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predict employee attrition as Yes or No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applicable to organizations of different sizes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HR decision-making for employee retention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is limited to prediction and analysis, not policy implementation</a:t>
            </a:r>
          </a:p>
        </p:txBody>
      </p:sp>
      <p:grpSp>
        <p:nvGrpSpPr>
          <p:cNvPr id="11" name="object 2">
            <a:extLst>
              <a:ext uri="{FF2B5EF4-FFF2-40B4-BE49-F238E27FC236}">
                <a16:creationId xmlns:a16="http://schemas.microsoft.com/office/drawing/2014/main" id="{7A6EEA21-CAAC-67E0-3D00-B1BDC36A4F6D}"/>
              </a:ext>
            </a:extLst>
          </p:cNvPr>
          <p:cNvGrpSpPr/>
          <p:nvPr/>
        </p:nvGrpSpPr>
        <p:grpSpPr>
          <a:xfrm>
            <a:off x="2602705" y="10386"/>
            <a:ext cx="13161942" cy="974090"/>
            <a:chOff x="2269978" y="0"/>
            <a:chExt cx="13296265" cy="974090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969B5377-BAA7-71F1-B77B-482795662E67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>
                  <a:solidFill>
                    <a:schemeClr val="bg1"/>
                  </a:solidFill>
                  <a:latin typeface="Times New Roman"/>
                  <a:cs typeface="Times New Roman"/>
                </a:rPr>
                <a:t>Scope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5619AD07-1CEA-60EE-6756-7582147241A5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649" y="0"/>
            <a:ext cx="2291422" cy="1714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1048" y="0"/>
            <a:ext cx="2514599" cy="149542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871853" y="-114300"/>
            <a:ext cx="8916035" cy="98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3175DC-CC00-C620-5BAB-77EA392048CF}"/>
              </a:ext>
            </a:extLst>
          </p:cNvPr>
          <p:cNvSpPr txBox="1"/>
          <p:nvPr/>
        </p:nvSpPr>
        <p:spPr>
          <a:xfrm>
            <a:off x="4465674" y="74002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161B057-1766-43CD-C123-DC4C03DBA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836315"/>
              </p:ext>
            </p:extLst>
          </p:nvPr>
        </p:nvGraphicFramePr>
        <p:xfrm>
          <a:off x="0" y="1562100"/>
          <a:ext cx="18285647" cy="7309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38580036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87824746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44043078"/>
                    </a:ext>
                  </a:extLst>
                </a:gridCol>
                <a:gridCol w="5865047">
                  <a:extLst>
                    <a:ext uri="{9D8B030D-6E8A-4147-A177-3AD203B41FA5}">
                      <a16:colId xmlns:a16="http://schemas.microsoft.com/office/drawing/2014/main" val="138681121"/>
                    </a:ext>
                  </a:extLst>
                </a:gridCol>
              </a:tblGrid>
              <a:tr h="112536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Sr. No.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Paper Title and Year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Details of Publication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Findings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330549"/>
                  </a:ext>
                </a:extLst>
              </a:tr>
              <a:tr h="119495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Big Data to Deep Data to Support People Analytics for Employee Attrition Prediction (2021)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Volume 9, Pages 67345–67358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Yahia, N. B.,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Hlel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J., &amp;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Colomo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-Palacios, R.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focuses on people analytics and data quality for predicting employee attrition. It highlights the importance of meaningful HR data but does not present a complete end-to-end prediction system.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750707"/>
                  </a:ext>
                </a:extLst>
              </a:tr>
              <a:tr h="99299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Attrition Prediction Using Machine Learning Techniques (2021)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Proceedings of the International Conference on Intelligent Computing and Control Systems (ICICCS), Pages 112–118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Mishra, S., Patnaik, S., &amp; Panda, S.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applies machine learning algorithms such as Logistic Regression and Random Forest to predict employee attrition and shows improved prediction accuracy.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483577"/>
                  </a:ext>
                </a:extLst>
              </a:tr>
              <a:tr h="115469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Employee Turnover Using Data Mining Techniques (2020)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Procedia Computer Science, Volume 167, Pages 210–219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Kumar, A., Jain, R., &amp; Kaur, P.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research analyzes HR factors influencing employee attrition using Decision Tree and Naïve Bayes classifiers and identifies job satisfaction as a key factor.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90201"/>
                  </a:ext>
                </a:extLst>
              </a:tr>
              <a:tr h="115469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Attrition Prediction Using Support Vector Machine and KNN (2019)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Intelligent Systems, Volume 28(4), Pages 589–602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Zhang, Y., Li, X., &amp; Wang, H.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uses SVM and KNN models to predict employee turnover and reports improved classification performance with higher computational cost.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18828"/>
                  </a:ext>
                </a:extLst>
              </a:tr>
              <a:tr h="115469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Employee Attrition Prediction Using Machine Learning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Computer Applications, Volume 174(21), Pages 12–18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Authors: Patel, R., Shah, D., &amp; Mehta, 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survey reviews multiple machine learning approaches for employee attrition prediction and highlights the need for accurate and scalable predictive systems.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550114"/>
                  </a:ext>
                </a:extLst>
              </a:tr>
            </a:tbl>
          </a:graphicData>
        </a:graphic>
      </p:graphicFrame>
      <p:grpSp>
        <p:nvGrpSpPr>
          <p:cNvPr id="6" name="object 2">
            <a:extLst>
              <a:ext uri="{FF2B5EF4-FFF2-40B4-BE49-F238E27FC236}">
                <a16:creationId xmlns:a16="http://schemas.microsoft.com/office/drawing/2014/main" id="{ED4262A9-EF9A-3767-D784-A412AEE39F29}"/>
              </a:ext>
            </a:extLst>
          </p:cNvPr>
          <p:cNvGrpSpPr/>
          <p:nvPr/>
        </p:nvGrpSpPr>
        <p:grpSpPr>
          <a:xfrm>
            <a:off x="2602705" y="10386"/>
            <a:ext cx="13161942" cy="974090"/>
            <a:chOff x="2269978" y="0"/>
            <a:chExt cx="13296265" cy="974090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F3C80E41-E95A-4261-F9BE-CA8D1BBB128D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>
                <a:lnSpc>
                  <a:spcPct val="150000"/>
                </a:lnSpc>
              </a:pPr>
              <a:r>
                <a:rPr lang="en-US" sz="4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</a:t>
              </a:r>
            </a:p>
          </p:txBody>
        </p:sp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238F3ADC-D118-B6C4-768C-65E186C5F35D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B98B-71F9-E303-34F2-4C33DE8D5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BAD6124-DA5C-4200-F7F1-FD21227112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02" y="30784"/>
            <a:ext cx="2457449" cy="2076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F4B7B-61E1-BBAF-2A6F-F7EA032072AA}"/>
              </a:ext>
            </a:extLst>
          </p:cNvPr>
          <p:cNvSpPr txBox="1"/>
          <p:nvPr/>
        </p:nvSpPr>
        <p:spPr>
          <a:xfrm>
            <a:off x="2819400" y="61867"/>
            <a:ext cx="13050268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50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4650" spc="-4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46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6254739C-98DE-3D3F-6251-2114EFAE44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44896" y="0"/>
            <a:ext cx="2343102" cy="1387487"/>
          </a:xfrm>
          <a:prstGeom prst="rect">
            <a:avLst/>
          </a:prstGeom>
        </p:spPr>
      </p:pic>
      <p:pic>
        <p:nvPicPr>
          <p:cNvPr id="10" name="object 6">
            <a:extLst>
              <a:ext uri="{FF2B5EF4-FFF2-40B4-BE49-F238E27FC236}">
                <a16:creationId xmlns:a16="http://schemas.microsoft.com/office/drawing/2014/main" id="{AA4DDD36-3659-761D-5EFB-1BA071F239F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9200" y="1962283"/>
            <a:ext cx="15849600" cy="7448417"/>
          </a:xfrm>
          <a:prstGeom prst="rect">
            <a:avLst/>
          </a:prstGeom>
        </p:spPr>
      </p:pic>
      <p:grpSp>
        <p:nvGrpSpPr>
          <p:cNvPr id="14" name="object 2">
            <a:extLst>
              <a:ext uri="{FF2B5EF4-FFF2-40B4-BE49-F238E27FC236}">
                <a16:creationId xmlns:a16="http://schemas.microsoft.com/office/drawing/2014/main" id="{6CD7DCC8-730E-CFC3-1B9A-A4EA28BB149D}"/>
              </a:ext>
            </a:extLst>
          </p:cNvPr>
          <p:cNvGrpSpPr/>
          <p:nvPr/>
        </p:nvGrpSpPr>
        <p:grpSpPr>
          <a:xfrm>
            <a:off x="2602705" y="10386"/>
            <a:ext cx="13161942" cy="974090"/>
            <a:chOff x="2269978" y="0"/>
            <a:chExt cx="13296265" cy="974090"/>
          </a:xfrm>
        </p:grpSpPr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C0BA8288-FD67-AB54-E7B3-73FAF0973E50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>
                  <a:solidFill>
                    <a:schemeClr val="bg1"/>
                  </a:solidFill>
                  <a:latin typeface="Times New Roman"/>
                  <a:cs typeface="Times New Roman"/>
                </a:rPr>
                <a:t>System Architecture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E101C19A-F22C-26D8-923B-A023A2308E01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79930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297" y="0"/>
            <a:ext cx="2457449" cy="19787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98523" y="0"/>
            <a:ext cx="2589475" cy="1539887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734285" y="-114300"/>
            <a:ext cx="4018915" cy="9880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5">
            <a:extLst>
              <a:ext uri="{FF2B5EF4-FFF2-40B4-BE49-F238E27FC236}">
                <a16:creationId xmlns:a16="http://schemas.microsoft.com/office/drawing/2014/main" id="{6D1AC33A-2C68-9B36-1EA6-A9FA300F224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42434" y="1539887"/>
            <a:ext cx="9530379" cy="202457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B64A64E-DC41-C5B9-CA48-E3DBCCB795F2}"/>
              </a:ext>
            </a:extLst>
          </p:cNvPr>
          <p:cNvSpPr txBox="1"/>
          <p:nvPr/>
        </p:nvSpPr>
        <p:spPr>
          <a:xfrm>
            <a:off x="8534400" y="3659839"/>
            <a:ext cx="3581400" cy="38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315595">
              <a:lnSpc>
                <a:spcPts val="2500"/>
              </a:lnSpc>
              <a:spcBef>
                <a:spcPts val="90"/>
              </a:spcBef>
            </a:pPr>
            <a:r>
              <a:rPr lang="en-US" sz="1800" b="1" dirty="0">
                <a:solidFill>
                  <a:srgbClr val="262525"/>
                </a:solidFill>
                <a:latin typeface="Georgia"/>
                <a:cs typeface="Georgia"/>
              </a:rPr>
              <a:t>Data Collection</a:t>
            </a:r>
            <a:endParaRPr lang="en-US" sz="1800" dirty="0">
              <a:latin typeface="Georgia"/>
              <a:cs typeface="Georgi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092E6-6223-1234-413A-A443C81BC3CA}"/>
              </a:ext>
            </a:extLst>
          </p:cNvPr>
          <p:cNvSpPr txBox="1"/>
          <p:nvPr/>
        </p:nvSpPr>
        <p:spPr>
          <a:xfrm>
            <a:off x="11028935" y="3661321"/>
            <a:ext cx="2855470" cy="392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0720" marR="5080" indent="-668655">
              <a:lnSpc>
                <a:spcPts val="2500"/>
              </a:lnSpc>
              <a:spcBef>
                <a:spcPts val="90"/>
              </a:spcBef>
            </a:pPr>
            <a:r>
              <a:rPr lang="en-US" sz="2000" b="1" dirty="0" err="1">
                <a:solidFill>
                  <a:srgbClr val="26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Preprossing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0B1D0F-2271-43AD-7042-9EEB1D614B4F}"/>
              </a:ext>
            </a:extLst>
          </p:cNvPr>
          <p:cNvSpPr txBox="1"/>
          <p:nvPr/>
        </p:nvSpPr>
        <p:spPr>
          <a:xfrm>
            <a:off x="13030358" y="3659839"/>
            <a:ext cx="1295400" cy="706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95250">
              <a:lnSpc>
                <a:spcPts val="2500"/>
              </a:lnSpc>
              <a:spcBef>
                <a:spcPts val="90"/>
              </a:spcBef>
            </a:pPr>
            <a:r>
              <a:rPr lang="en-US" sz="1800" b="1" dirty="0">
                <a:solidFill>
                  <a:srgbClr val="262525"/>
                </a:solidFill>
                <a:latin typeface="Georgia"/>
                <a:cs typeface="Georgia"/>
              </a:rPr>
              <a:t>Feature Selection</a:t>
            </a:r>
            <a:endParaRPr lang="en-US" sz="1800" dirty="0">
              <a:latin typeface="Georgia"/>
              <a:cs typeface="Georgi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20F66A-1D5D-66CA-1361-48CE75750AB7}"/>
              </a:ext>
            </a:extLst>
          </p:cNvPr>
          <p:cNvSpPr txBox="1"/>
          <p:nvPr/>
        </p:nvSpPr>
        <p:spPr>
          <a:xfrm>
            <a:off x="14899446" y="3613081"/>
            <a:ext cx="1427735" cy="713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130810">
              <a:lnSpc>
                <a:spcPts val="2500"/>
              </a:lnSpc>
              <a:spcBef>
                <a:spcPts val="90"/>
              </a:spcBef>
            </a:pPr>
            <a:r>
              <a:rPr lang="en-US" sz="2000" b="1" dirty="0">
                <a:solidFill>
                  <a:srgbClr val="26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8805E4-C25E-EB45-59CB-A82077573CA0}"/>
              </a:ext>
            </a:extLst>
          </p:cNvPr>
          <p:cNvSpPr txBox="1"/>
          <p:nvPr/>
        </p:nvSpPr>
        <p:spPr>
          <a:xfrm>
            <a:off x="16611600" y="3613080"/>
            <a:ext cx="1524000" cy="706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245745">
              <a:lnSpc>
                <a:spcPts val="2500"/>
              </a:lnSpc>
              <a:spcBef>
                <a:spcPts val="90"/>
              </a:spcBef>
            </a:pPr>
            <a:r>
              <a:rPr lang="en-US" sz="1800" b="1" dirty="0">
                <a:solidFill>
                  <a:srgbClr val="262525"/>
                </a:solidFill>
                <a:latin typeface="Georgia"/>
                <a:cs typeface="Georgia"/>
              </a:rPr>
              <a:t>Model Evaluation</a:t>
            </a:r>
            <a:endParaRPr lang="en-US" sz="1800" dirty="0">
              <a:latin typeface="Georgia"/>
              <a:cs typeface="Georgi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C21500-14AB-05EA-80C6-F4C230A9C6FF}"/>
              </a:ext>
            </a:extLst>
          </p:cNvPr>
          <p:cNvSpPr txBox="1"/>
          <p:nvPr/>
        </p:nvSpPr>
        <p:spPr>
          <a:xfrm>
            <a:off x="175997" y="1867436"/>
            <a:ext cx="835840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employee data is collected from a reliable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includes personal, job, and performance-related attributes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and inconsistent data is handled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data is converted into numerical format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influencing employee attrition are identified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Irrelevant or redundant features are removed</a:t>
            </a:r>
          </a:p>
          <a:p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B4D53A-B96E-49EA-1736-D63D6F6458D7}"/>
              </a:ext>
            </a:extLst>
          </p:cNvPr>
          <p:cNvSpPr txBox="1"/>
          <p:nvPr/>
        </p:nvSpPr>
        <p:spPr>
          <a:xfrm>
            <a:off x="9449408" y="4957542"/>
            <a:ext cx="97527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are applied to train the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patterns related to employee attrition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evaluated using appropriate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analyzed to support attrition prediction</a:t>
            </a:r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0ECB6B2D-2E10-3FDD-E33D-3CB0B6699BF2}"/>
              </a:ext>
            </a:extLst>
          </p:cNvPr>
          <p:cNvGrpSpPr/>
          <p:nvPr/>
        </p:nvGrpSpPr>
        <p:grpSpPr>
          <a:xfrm>
            <a:off x="2778745" y="10386"/>
            <a:ext cx="12985901" cy="974090"/>
            <a:chOff x="2269978" y="0"/>
            <a:chExt cx="13296265" cy="974090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B2FB081E-2FD7-FE6D-E5D1-0179B65240C8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>
                  <a:solidFill>
                    <a:schemeClr val="bg1"/>
                  </a:solidFill>
                  <a:latin typeface="Times New Roman"/>
                  <a:cs typeface="Times New Roman"/>
                </a:rPr>
                <a:t>Methodology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75D64DA5-F3A3-A69F-BDE2-9E7398788C90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ED3A-0210-2E66-0EFE-61B3A98E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A2B83A2-0D9D-5595-7D9E-5AFDAD1F37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02" y="30784"/>
            <a:ext cx="2457449" cy="2076449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769EDEB-F6E1-6283-D925-47FE061AF0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02021" y="0"/>
            <a:ext cx="2485977" cy="1476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04BB87-8F70-2F41-004E-384F14AF8133}"/>
              </a:ext>
            </a:extLst>
          </p:cNvPr>
          <p:cNvSpPr txBox="1"/>
          <p:nvPr/>
        </p:nvSpPr>
        <p:spPr>
          <a:xfrm>
            <a:off x="4066162" y="-1322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EBF14-BB56-BA50-2044-28B46E71A260}"/>
              </a:ext>
            </a:extLst>
          </p:cNvPr>
          <p:cNvSpPr txBox="1"/>
          <p:nvPr/>
        </p:nvSpPr>
        <p:spPr>
          <a:xfrm>
            <a:off x="62102" y="2205622"/>
            <a:ext cx="13653898" cy="600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(User Interface) 🌐</a:t>
            </a:r>
          </a:p>
          <a:p>
            <a:pPr marL="1138555" indent="-457200">
              <a:lnSpc>
                <a:spcPct val="100000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 marL="1138555" indent="-457200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forms for single employee input</a:t>
            </a:r>
          </a:p>
          <a:p>
            <a:pPr marL="1138555" indent="-457200">
              <a:lnSpc>
                <a:spcPct val="100000"/>
              </a:lnSpc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bulk CSV/Excel upload</a:t>
            </a:r>
          </a:p>
          <a:p>
            <a:pPr marL="1138555" indent="-457200">
              <a:lnSpc>
                <a:spcPct val="100000"/>
              </a:lnSpc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charts for analytics dashboard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(Server &amp; Application Logic) ⚙</a:t>
            </a:r>
          </a:p>
          <a:p>
            <a:pPr marL="1138555" indent="-457200">
              <a:lnSpc>
                <a:spcPct val="100000"/>
              </a:lnSpc>
              <a:spcBef>
                <a:spcPts val="40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1138555" marR="1583055" indent="-457200">
              <a:lnSpc>
                <a:spcPts val="4280"/>
              </a:lnSpc>
              <a:spcBef>
                <a:spcPts val="15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 processing, ML model integration, and API requests</a:t>
            </a:r>
          </a:p>
          <a:p>
            <a:pPr marL="1138555" indent="-45720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 &amp; user authentication</a:t>
            </a: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Data Science 🤖</a:t>
            </a:r>
          </a:p>
          <a:p>
            <a:pPr marL="1138555" marR="546100" indent="-457200">
              <a:lnSpc>
                <a:spcPts val="4280"/>
              </a:lnSpc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Logistic Regression, Random Forest</a:t>
            </a:r>
          </a:p>
          <a:p>
            <a:pPr marL="1138555" indent="-45720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and probability-based 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2A124-737C-6EC2-6357-C7766DC7299B}"/>
              </a:ext>
            </a:extLst>
          </p:cNvPr>
          <p:cNvSpPr txBox="1"/>
          <p:nvPr/>
        </p:nvSpPr>
        <p:spPr>
          <a:xfrm>
            <a:off x="11282751" y="1970045"/>
            <a:ext cx="9173182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effectLst/>
                <a:latin typeface="Helvetica" pitchFamily="2" charset="0"/>
              </a:rPr>
              <a:t>Technology Stack</a:t>
            </a:r>
          </a:p>
          <a:p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Storage 🗄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 for employee data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uploaded files,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results, and HR actions</a:t>
            </a:r>
          </a:p>
          <a:p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Analytics 📊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Charts, dashboards.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and role-wise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attrition insights</a:t>
            </a:r>
            <a:endParaRPr lang="en-US" sz="2800" b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Environment 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 for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/ Git for version control</a:t>
            </a: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DEFC1D81-C92A-F507-1D5E-C1D6CC7B1EA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grpSp>
        <p:nvGrpSpPr>
          <p:cNvPr id="6" name="object 2">
            <a:extLst>
              <a:ext uri="{FF2B5EF4-FFF2-40B4-BE49-F238E27FC236}">
                <a16:creationId xmlns:a16="http://schemas.microsoft.com/office/drawing/2014/main" id="{819C0FB2-18F6-3891-DA4F-F33559E96C2A}"/>
              </a:ext>
            </a:extLst>
          </p:cNvPr>
          <p:cNvGrpSpPr/>
          <p:nvPr/>
        </p:nvGrpSpPr>
        <p:grpSpPr>
          <a:xfrm>
            <a:off x="2602705" y="10386"/>
            <a:ext cx="13161942" cy="974090"/>
            <a:chOff x="2269978" y="0"/>
            <a:chExt cx="13296265" cy="974090"/>
          </a:xfrm>
        </p:grpSpPr>
        <p:sp>
          <p:nvSpPr>
            <p:cNvPr id="9" name="object 3">
              <a:extLst>
                <a:ext uri="{FF2B5EF4-FFF2-40B4-BE49-F238E27FC236}">
                  <a16:creationId xmlns:a16="http://schemas.microsoft.com/office/drawing/2014/main" id="{F9A4E762-8A35-B087-DF67-343BA140B78A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>
                  <a:solidFill>
                    <a:schemeClr val="bg1"/>
                  </a:solidFill>
                  <a:latin typeface="Times New Roman"/>
                  <a:cs typeface="Times New Roman"/>
                </a:rPr>
                <a:t>Technology &amp; Tools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1596067D-4467-0A9C-ABAD-F5BAFBEE1138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35972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9ED23-46A7-4A44-3A84-1B537489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0A79FCE-D066-F05C-E1EF-22259DE451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02" y="30784"/>
            <a:ext cx="2457449" cy="2076449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85E3B31-B340-5F6D-34EC-B65857DC91B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02021" y="0"/>
            <a:ext cx="2485977" cy="147637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262D89-1EA9-9EFB-D8E6-4C1FF21FC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805817"/>
              </p:ext>
            </p:extLst>
          </p:nvPr>
        </p:nvGraphicFramePr>
        <p:xfrm>
          <a:off x="2266954" y="1188160"/>
          <a:ext cx="14116045" cy="798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9994">
                  <a:extLst>
                    <a:ext uri="{9D8B030D-6E8A-4147-A177-3AD203B41FA5}">
                      <a16:colId xmlns:a16="http://schemas.microsoft.com/office/drawing/2014/main" val="3956677675"/>
                    </a:ext>
                  </a:extLst>
                </a:gridCol>
                <a:gridCol w="2405355">
                  <a:extLst>
                    <a:ext uri="{9D8B030D-6E8A-4147-A177-3AD203B41FA5}">
                      <a16:colId xmlns:a16="http://schemas.microsoft.com/office/drawing/2014/main" val="1387347443"/>
                    </a:ext>
                  </a:extLst>
                </a:gridCol>
                <a:gridCol w="2437425">
                  <a:extLst>
                    <a:ext uri="{9D8B030D-6E8A-4147-A177-3AD203B41FA5}">
                      <a16:colId xmlns:a16="http://schemas.microsoft.com/office/drawing/2014/main" val="3179057654"/>
                    </a:ext>
                  </a:extLst>
                </a:gridCol>
                <a:gridCol w="2212926">
                  <a:extLst>
                    <a:ext uri="{9D8B030D-6E8A-4147-A177-3AD203B41FA5}">
                      <a16:colId xmlns:a16="http://schemas.microsoft.com/office/drawing/2014/main" val="118445583"/>
                    </a:ext>
                  </a:extLst>
                </a:gridCol>
                <a:gridCol w="2570345">
                  <a:extLst>
                    <a:ext uri="{9D8B030D-6E8A-4147-A177-3AD203B41FA5}">
                      <a16:colId xmlns:a16="http://schemas.microsoft.com/office/drawing/2014/main" val="1792739159"/>
                    </a:ext>
                  </a:extLst>
                </a:gridCol>
              </a:tblGrid>
              <a:tr h="104196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Months Activities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January</a:t>
                      </a:r>
                      <a:r>
                        <a:rPr lang="en-US" sz="3200" b="1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’26</a:t>
                      </a:r>
                    </a:p>
                    <a:p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February’26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March’26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April’26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099514"/>
                  </a:ext>
                </a:extLst>
              </a:tr>
              <a:tr h="865336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Literature Reviews</a:t>
                      </a:r>
                    </a:p>
                    <a:p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456421"/>
                  </a:ext>
                </a:extLst>
              </a:tr>
              <a:tr h="110150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Requirement Analysis</a:t>
                      </a:r>
                    </a:p>
                    <a:p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  <a:p>
                      <a:endParaRPr lang="en-US" sz="3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427298"/>
                  </a:ext>
                </a:extLst>
              </a:tr>
              <a:tr h="110150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Designing</a:t>
                      </a:r>
                    </a:p>
                    <a:p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  <a:p>
                      <a:endParaRPr lang="en-US" sz="3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744952"/>
                  </a:ext>
                </a:extLst>
              </a:tr>
              <a:tr h="110150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Experimental Analysis</a:t>
                      </a:r>
                    </a:p>
                    <a:p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  <a:p>
                      <a:endParaRPr lang="en-US" sz="3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83490"/>
                  </a:ext>
                </a:extLst>
              </a:tr>
              <a:tr h="865336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Module wise Implementation</a:t>
                      </a:r>
                    </a:p>
                    <a:p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16407"/>
                  </a:ext>
                </a:extLst>
              </a:tr>
              <a:tr h="865336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Testing and Debugging</a:t>
                      </a:r>
                    </a:p>
                    <a:p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45553"/>
                  </a:ext>
                </a:extLst>
              </a:tr>
              <a:tr h="865336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Preparation of Project Report</a:t>
                      </a:r>
                    </a:p>
                    <a:p>
                      <a:endParaRPr lang="en-US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280212"/>
                  </a:ext>
                </a:extLst>
              </a:tr>
            </a:tbl>
          </a:graphicData>
        </a:graphic>
      </p:graphicFrame>
      <p:pic>
        <p:nvPicPr>
          <p:cNvPr id="9" name="object 4">
            <a:extLst>
              <a:ext uri="{FF2B5EF4-FFF2-40B4-BE49-F238E27FC236}">
                <a16:creationId xmlns:a16="http://schemas.microsoft.com/office/drawing/2014/main" id="{43C54C11-1E09-854E-331B-2CC0BDADD44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grpSp>
        <p:nvGrpSpPr>
          <p:cNvPr id="6" name="object 2">
            <a:extLst>
              <a:ext uri="{FF2B5EF4-FFF2-40B4-BE49-F238E27FC236}">
                <a16:creationId xmlns:a16="http://schemas.microsoft.com/office/drawing/2014/main" id="{279BD562-4A82-36CA-7576-0B57A4F2BF3F}"/>
              </a:ext>
            </a:extLst>
          </p:cNvPr>
          <p:cNvGrpSpPr/>
          <p:nvPr/>
        </p:nvGrpSpPr>
        <p:grpSpPr>
          <a:xfrm>
            <a:off x="2602705" y="10386"/>
            <a:ext cx="13161942" cy="974090"/>
            <a:chOff x="2269978" y="0"/>
            <a:chExt cx="13296265" cy="974090"/>
          </a:xfrm>
        </p:grpSpPr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5FDFF679-DF4F-5EA8-5A2B-7AC1A4108450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>
                  <a:solidFill>
                    <a:schemeClr val="bg1"/>
                  </a:solidFill>
                  <a:latin typeface="Times New Roman"/>
                  <a:cs typeface="Times New Roman"/>
                </a:rPr>
                <a:t>Plan Of Work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A6F17C89-4DF8-DA58-86A0-1543FD0C7591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52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297" y="0"/>
            <a:ext cx="2457449" cy="20478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61545" y="0"/>
            <a:ext cx="2426454" cy="14382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2344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References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24961" y="1740818"/>
            <a:ext cx="18034480" cy="69473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Yahia, N. B.,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&amp;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Colomo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-Palacios, R. (2021). From Big Data to Deep Data to Support People Analytics for  Employee Attrition Prediction. IEEE Access, 9, 67345–67358.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Mishra, S., Patnaik, S., &amp; Panda, S. (2021). Employee Attrition Prediction Using Machine Learning Techniques.   Proceedings of IEEE International Conference on Intelligent Computing and Control Systems.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Kumar, A., Jain, R., &amp; Kaur, P. (2020). Predicting Employee Turnover Using Data Mining Techniques. Procedia Computer Science, Elsevier.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 Zhang, Y., Li, X., &amp; Wang, H. (2019). Employee Attrition Prediction Using Support Vector Machine and KNN. Springer Journal of Intelligent Systems.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 Patel, R., Shah, D., &amp; Mehta, K. (2022). A Survey on Employee Attrition Prediction Using Machine Learning. International Journal of Computer Applications.</a:t>
            </a:r>
          </a:p>
          <a:p>
            <a:pPr marL="25400" marR="838200" indent="-24130" algn="just">
              <a:lnSpc>
                <a:spcPct val="116100"/>
              </a:lnSpc>
              <a:spcBef>
                <a:spcPts val="95"/>
              </a:spcBef>
              <a:buSzPct val="92857"/>
              <a:buAutoNum type="arabicPlain"/>
              <a:tabLst>
                <a:tab pos="414020" algn="l"/>
              </a:tabLst>
            </a:pPr>
            <a:endParaRPr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D842E6-6B79-3C6A-0868-AA73F66AE284}"/>
                  </a:ext>
                </a:extLst>
              </p14:cNvPr>
              <p14:cNvContentPartPr/>
              <p14:nvPr/>
            </p14:nvContentPartPr>
            <p14:xfrm>
              <a:off x="124960" y="469508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D842E6-6B79-3C6A-0868-AA73F66AE2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960" y="467708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44F626E-014D-1017-DDD4-E045EDFF7C55}"/>
                  </a:ext>
                </a:extLst>
              </p14:cNvPr>
              <p14:cNvContentPartPr/>
              <p14:nvPr/>
            </p14:nvContentPartPr>
            <p14:xfrm>
              <a:off x="-2050520" y="-141772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44F626E-014D-1017-DDD4-E045EDFF7C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068160" y="-143536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object 2">
            <a:extLst>
              <a:ext uri="{FF2B5EF4-FFF2-40B4-BE49-F238E27FC236}">
                <a16:creationId xmlns:a16="http://schemas.microsoft.com/office/drawing/2014/main" id="{9FD72DC9-CCC1-9420-AB8E-646EC2CA2B73}"/>
              </a:ext>
            </a:extLst>
          </p:cNvPr>
          <p:cNvGrpSpPr/>
          <p:nvPr/>
        </p:nvGrpSpPr>
        <p:grpSpPr>
          <a:xfrm>
            <a:off x="2763858" y="10386"/>
            <a:ext cx="13161942" cy="974090"/>
            <a:chOff x="2269978" y="0"/>
            <a:chExt cx="13296265" cy="974090"/>
          </a:xfrm>
        </p:grpSpPr>
        <p:sp>
          <p:nvSpPr>
            <p:cNvPr id="11" name="object 3">
              <a:extLst>
                <a:ext uri="{FF2B5EF4-FFF2-40B4-BE49-F238E27FC236}">
                  <a16:creationId xmlns:a16="http://schemas.microsoft.com/office/drawing/2014/main" id="{A93C246F-0935-68A7-528D-03CC8D7C8354}"/>
                </a:ext>
              </a:extLst>
            </p:cNvPr>
            <p:cNvSpPr/>
            <p:nvPr/>
          </p:nvSpPr>
          <p:spPr>
            <a:xfrm>
              <a:off x="2277311" y="7048"/>
              <a:ext cx="13280390" cy="960119"/>
            </a:xfrm>
            <a:custGeom>
              <a:avLst/>
              <a:gdLst/>
              <a:ahLst/>
              <a:cxnLst/>
              <a:rect l="l" t="t" r="r" b="b"/>
              <a:pathLst>
                <a:path w="13280390" h="960119">
                  <a:moveTo>
                    <a:pt x="13280001" y="959548"/>
                  </a:moveTo>
                  <a:lnTo>
                    <a:pt x="0" y="959548"/>
                  </a:lnTo>
                  <a:lnTo>
                    <a:pt x="0" y="0"/>
                  </a:lnTo>
                  <a:lnTo>
                    <a:pt x="13280001" y="0"/>
                  </a:lnTo>
                  <a:lnTo>
                    <a:pt x="13280001" y="959548"/>
                  </a:lnTo>
                  <a:close/>
                </a:path>
              </a:pathLst>
            </a:custGeom>
            <a:solidFill>
              <a:srgbClr val="6F2FA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4650" spc="65" dirty="0" err="1">
                  <a:solidFill>
                    <a:schemeClr val="bg1"/>
                  </a:solidFill>
                  <a:latin typeface="Times New Roman"/>
                  <a:cs typeface="Times New Roman"/>
                </a:rPr>
                <a:t>Referances</a:t>
              </a:r>
              <a:endParaRPr sz="4650" dirty="0">
                <a:solidFill>
                  <a:schemeClr val="bg1"/>
                </a:solidFill>
              </a:endParaRPr>
            </a:p>
          </p:txBody>
        </p:sp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38D575CD-CF53-0BED-85FE-EF6D71B8AA70}"/>
                </a:ext>
              </a:extLst>
            </p:cNvPr>
            <p:cNvSpPr/>
            <p:nvPr/>
          </p:nvSpPr>
          <p:spPr>
            <a:xfrm>
              <a:off x="2269978" y="0"/>
              <a:ext cx="13296265" cy="974090"/>
            </a:xfrm>
            <a:custGeom>
              <a:avLst/>
              <a:gdLst/>
              <a:ahLst/>
              <a:cxnLst/>
              <a:rect l="l" t="t" r="r" b="b"/>
              <a:pathLst>
                <a:path w="13296265" h="974090">
                  <a:moveTo>
                    <a:pt x="13292900" y="973645"/>
                  </a:moveTo>
                  <a:lnTo>
                    <a:pt x="3238" y="973645"/>
                  </a:lnTo>
                  <a:lnTo>
                    <a:pt x="0" y="970502"/>
                  </a:lnTo>
                  <a:lnTo>
                    <a:pt x="0" y="3143"/>
                  </a:lnTo>
                  <a:lnTo>
                    <a:pt x="3238" y="0"/>
                  </a:lnTo>
                  <a:lnTo>
                    <a:pt x="13292900" y="0"/>
                  </a:lnTo>
                  <a:lnTo>
                    <a:pt x="13296138" y="3143"/>
                  </a:lnTo>
                  <a:lnTo>
                    <a:pt x="13296138" y="7048"/>
                  </a:lnTo>
                  <a:lnTo>
                    <a:pt x="7334" y="7048"/>
                  </a:lnTo>
                  <a:lnTo>
                    <a:pt x="7334" y="14097"/>
                  </a:lnTo>
                  <a:lnTo>
                    <a:pt x="14668" y="14097"/>
                  </a:lnTo>
                  <a:lnTo>
                    <a:pt x="14668" y="959548"/>
                  </a:lnTo>
                  <a:lnTo>
                    <a:pt x="7334" y="959548"/>
                  </a:lnTo>
                  <a:lnTo>
                    <a:pt x="7334" y="966597"/>
                  </a:lnTo>
                  <a:lnTo>
                    <a:pt x="13296138" y="966597"/>
                  </a:lnTo>
                  <a:lnTo>
                    <a:pt x="13296138" y="970502"/>
                  </a:lnTo>
                  <a:lnTo>
                    <a:pt x="13292900" y="973645"/>
                  </a:lnTo>
                  <a:close/>
                </a:path>
                <a:path w="13296265" h="974090">
                  <a:moveTo>
                    <a:pt x="14668" y="14097"/>
                  </a:moveTo>
                  <a:lnTo>
                    <a:pt x="7334" y="14097"/>
                  </a:lnTo>
                  <a:lnTo>
                    <a:pt x="7334" y="7048"/>
                  </a:lnTo>
                  <a:lnTo>
                    <a:pt x="14668" y="7048"/>
                  </a:lnTo>
                  <a:lnTo>
                    <a:pt x="14668" y="14097"/>
                  </a:lnTo>
                  <a:close/>
                </a:path>
                <a:path w="13296265" h="974090">
                  <a:moveTo>
                    <a:pt x="13281470" y="14097"/>
                  </a:moveTo>
                  <a:lnTo>
                    <a:pt x="14668" y="14097"/>
                  </a:lnTo>
                  <a:lnTo>
                    <a:pt x="14668" y="7048"/>
                  </a:lnTo>
                  <a:lnTo>
                    <a:pt x="13281470" y="7048"/>
                  </a:lnTo>
                  <a:lnTo>
                    <a:pt x="13281470" y="14097"/>
                  </a:lnTo>
                  <a:close/>
                </a:path>
                <a:path w="13296265" h="974090">
                  <a:moveTo>
                    <a:pt x="13288804" y="966597"/>
                  </a:moveTo>
                  <a:lnTo>
                    <a:pt x="13281470" y="966597"/>
                  </a:lnTo>
                  <a:lnTo>
                    <a:pt x="13281470" y="7048"/>
                  </a:lnTo>
                  <a:lnTo>
                    <a:pt x="13288804" y="7048"/>
                  </a:lnTo>
                  <a:lnTo>
                    <a:pt x="13288804" y="14097"/>
                  </a:lnTo>
                  <a:lnTo>
                    <a:pt x="13296138" y="14097"/>
                  </a:lnTo>
                  <a:lnTo>
                    <a:pt x="13296138" y="959548"/>
                  </a:lnTo>
                  <a:lnTo>
                    <a:pt x="13288804" y="959548"/>
                  </a:lnTo>
                  <a:lnTo>
                    <a:pt x="13288804" y="966597"/>
                  </a:lnTo>
                  <a:close/>
                </a:path>
                <a:path w="13296265" h="974090">
                  <a:moveTo>
                    <a:pt x="13296138" y="14097"/>
                  </a:moveTo>
                  <a:lnTo>
                    <a:pt x="13288804" y="14097"/>
                  </a:lnTo>
                  <a:lnTo>
                    <a:pt x="13288804" y="7048"/>
                  </a:lnTo>
                  <a:lnTo>
                    <a:pt x="13296138" y="7048"/>
                  </a:lnTo>
                  <a:lnTo>
                    <a:pt x="13296138" y="14097"/>
                  </a:lnTo>
                  <a:close/>
                </a:path>
                <a:path w="13296265" h="974090">
                  <a:moveTo>
                    <a:pt x="14668" y="966597"/>
                  </a:moveTo>
                  <a:lnTo>
                    <a:pt x="7334" y="966597"/>
                  </a:lnTo>
                  <a:lnTo>
                    <a:pt x="7334" y="959548"/>
                  </a:lnTo>
                  <a:lnTo>
                    <a:pt x="14668" y="959548"/>
                  </a:lnTo>
                  <a:lnTo>
                    <a:pt x="14668" y="966597"/>
                  </a:lnTo>
                  <a:close/>
                </a:path>
                <a:path w="13296265" h="974090">
                  <a:moveTo>
                    <a:pt x="13281470" y="966597"/>
                  </a:moveTo>
                  <a:lnTo>
                    <a:pt x="14668" y="966597"/>
                  </a:lnTo>
                  <a:lnTo>
                    <a:pt x="14668" y="959548"/>
                  </a:lnTo>
                  <a:lnTo>
                    <a:pt x="13281470" y="959548"/>
                  </a:lnTo>
                  <a:lnTo>
                    <a:pt x="13281470" y="966597"/>
                  </a:lnTo>
                  <a:close/>
                </a:path>
                <a:path w="13296265" h="974090">
                  <a:moveTo>
                    <a:pt x="13296138" y="966597"/>
                  </a:moveTo>
                  <a:lnTo>
                    <a:pt x="13288804" y="966597"/>
                  </a:lnTo>
                  <a:lnTo>
                    <a:pt x="13288804" y="959548"/>
                  </a:lnTo>
                  <a:lnTo>
                    <a:pt x="13296138" y="959548"/>
                  </a:lnTo>
                  <a:lnTo>
                    <a:pt x="13296138" y="966597"/>
                  </a:lnTo>
                  <a:close/>
                </a:path>
              </a:pathLst>
            </a:custGeom>
            <a:solidFill>
              <a:srgbClr val="864F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58" y="45358"/>
            <a:ext cx="2457449" cy="2076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12941"/>
            <a:ext cx="18287999" cy="10740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93248" y="0"/>
            <a:ext cx="2190749" cy="129223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34440" y="3446694"/>
            <a:ext cx="10338435" cy="2249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50" i="1" spc="944" dirty="0">
                <a:solidFill>
                  <a:srgbClr val="6F2FA0"/>
                </a:solidFill>
                <a:latin typeface="Times New Roman"/>
                <a:cs typeface="Times New Roman"/>
              </a:rPr>
              <a:t>Thank</a:t>
            </a:r>
            <a:r>
              <a:rPr sz="14550" i="1" spc="28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14550" i="1" spc="965" dirty="0">
                <a:solidFill>
                  <a:srgbClr val="6F2FA0"/>
                </a:solidFill>
                <a:latin typeface="Times New Roman"/>
                <a:cs typeface="Times New Roman"/>
              </a:rPr>
              <a:t>you</a:t>
            </a:r>
            <a:r>
              <a:rPr sz="14550" i="1" spc="28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14550" i="1" spc="-1920" dirty="0">
                <a:solidFill>
                  <a:srgbClr val="6F2FA0"/>
                </a:solidFill>
                <a:latin typeface="Times New Roman"/>
                <a:cs typeface="Times New Roman"/>
              </a:rPr>
              <a:t>!</a:t>
            </a:r>
            <a:endParaRPr sz="14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1294</Words>
  <Application>Microsoft Macintosh PowerPoint</Application>
  <PresentationFormat>Custom</PresentationFormat>
  <Paragraphs>180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SimSun-ExtB</vt:lpstr>
      <vt:lpstr>Arial</vt:lpstr>
      <vt:lpstr>Calibri</vt:lpstr>
      <vt:lpstr>Courier New</vt:lpstr>
      <vt:lpstr>Georgia</vt:lpstr>
      <vt:lpstr>Helvetica</vt:lpstr>
      <vt:lpstr>Segoe UI Emoji</vt:lpstr>
      <vt:lpstr>Times New Roman</vt:lpstr>
      <vt:lpstr>Verdana</vt:lpstr>
      <vt:lpstr>Webdings</vt:lpstr>
      <vt:lpstr>Office Theme</vt:lpstr>
      <vt:lpstr>G.H. RAISONI COLLEGE OF ENGINEERING AND MANAGEMENT, WAGHOLI, PUNE DepartmentofCSE ( AI&amp;AIML)</vt:lpstr>
      <vt:lpstr>Contents</vt:lpstr>
      <vt:lpstr>Introduction</vt:lpstr>
      <vt:lpstr>PowerPoint Presentation</vt:lpstr>
      <vt:lpstr>PowerPoint Presentation</vt:lpstr>
      <vt:lpstr>Objective</vt:lpstr>
      <vt:lpstr>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Perdiction .pdf.pdf</dc:title>
  <dc:creator>vaishnavi jadhav</dc:creator>
  <cp:keywords>DAG9dgf6c_I,BAFvsvJSqqA,0</cp:keywords>
  <cp:lastModifiedBy>Vaibhav Chole</cp:lastModifiedBy>
  <cp:revision>3</cp:revision>
  <dcterms:created xsi:type="dcterms:W3CDTF">2026-01-30T15:37:30Z</dcterms:created>
  <dcterms:modified xsi:type="dcterms:W3CDTF">2026-01-31T05:24:37Z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2026-01-04T00:00:00Z</vt:filetime>
  </property>
  <property fmtid="{D5CDD505-2E9C-101B-9397-08002B2CF9AE}" pid="3" name="Creator">
    <vt:lpwstr>Canva</vt:lpwstr>
  </property>
  <property fmtid="{D5CDD505-2E9C-101B-9397-08002B2CF9AE}" pid="4" name="LastSaved">
    <vt:filetime>2026-01-30T00:00:00Z</vt:filetime>
  </property>
  <property fmtid="{D5CDD505-2E9C-101B-9397-08002B2CF9AE}" pid="5" name="Producer">
    <vt:lpwstr>Canva</vt:lpwstr>
  </property>
</Properties>
</file>